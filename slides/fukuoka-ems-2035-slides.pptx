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出場件数</c:v>
                </c:pt>
              </c:strCache>
            </c:strRef>
          </c:tx>
          <c:spPr>
            <a:solidFill>
              <a:srgbClr val="F7C6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68299</c:v>
                </c:pt>
                <c:pt idx="1">
                  <c:v>70968</c:v>
                </c:pt>
                <c:pt idx="2">
                  <c:v>72796</c:v>
                </c:pt>
                <c:pt idx="3">
                  <c:v>76141</c:v>
                </c:pt>
                <c:pt idx="4">
                  <c:v>77763</c:v>
                </c:pt>
                <c:pt idx="5">
                  <c:v>80727</c:v>
                </c:pt>
                <c:pt idx="6">
                  <c:v>81447</c:v>
                </c:pt>
                <c:pt idx="7">
                  <c:v>72700</c:v>
                </c:pt>
                <c:pt idx="8">
                  <c:v>78424</c:v>
                </c:pt>
                <c:pt idx="9">
                  <c:v>94792</c:v>
                </c:pt>
                <c:pt idx="10">
                  <c:v>100007</c:v>
                </c:pt>
                <c:pt idx="11">
                  <c:v>100181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人口（2025=100）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100.3</c:v>
                </c:pt>
                <c:pt idx="2">
                  <c:v>100.5</c:v>
                </c:pt>
                <c:pt idx="3">
                  <c:v>100.8</c:v>
                </c:pt>
                <c:pt idx="4">
                  <c:v>101</c:v>
                </c:pt>
                <c:pt idx="5">
                  <c:v>101.3</c:v>
                </c:pt>
                <c:pt idx="6">
                  <c:v>101.5</c:v>
                </c:pt>
                <c:pt idx="7">
                  <c:v>101.7</c:v>
                </c:pt>
                <c:pt idx="8">
                  <c:v>102</c:v>
                </c:pt>
                <c:pt idx="9">
                  <c:v>102.1</c:v>
                </c:pt>
                <c:pt idx="10">
                  <c:v>102.3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出場件数（2025=100）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101.2</c:v>
                </c:pt>
                <c:pt idx="2">
                  <c:v>102.4</c:v>
                </c:pt>
                <c:pt idx="3">
                  <c:v>103.4</c:v>
                </c:pt>
                <c:pt idx="4">
                  <c:v>104.4</c:v>
                </c:pt>
                <c:pt idx="5">
                  <c:v>105.8</c:v>
                </c:pt>
                <c:pt idx="6">
                  <c:v>106.4</c:v>
                </c:pt>
                <c:pt idx="7">
                  <c:v>107.8</c:v>
                </c:pt>
                <c:pt idx="8">
                  <c:v>109.3</c:v>
                </c:pt>
                <c:pt idx="9">
                  <c:v>110.8</c:v>
                </c:pt>
                <c:pt idx="10">
                  <c:v>112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100人あたり/年</c:v>
                </c:pt>
              </c:strCache>
            </c:strRef>
          </c:tx>
          <c:spPr>
            <a:solidFill>
              <a:srgbClr val="9AD0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D0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D7F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7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D74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E3B8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0–6歳</c:v>
                  </c:pt>
                  <c:pt idx="1">
                    <c:v>7–17歳</c:v>
                  </c:pt>
                  <c:pt idx="2">
                    <c:v>18–64歳</c:v>
                  </c:pt>
                  <c:pt idx="3">
                    <c:v>65–74歳</c:v>
                  </c:pt>
                  <c:pt idx="4">
                    <c:v>75–84歳</c:v>
                  </c:pt>
                  <c:pt idx="5">
                    <c:v>85歳以上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</c:v>
                </c:pt>
                <c:pt idx="1">
                  <c:v>2</c:v>
                </c:pt>
                <c:pt idx="2">
                  <c:v>3.1</c:v>
                </c:pt>
                <c:pt idx="3">
                  <c:v>7.1</c:v>
                </c:pt>
                <c:pt idx="4">
                  <c:v>14.3</c:v>
                </c:pt>
                <c:pt idx="5">
                  <c:v>29.6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82"/>
                    </a:solidFill>
                    <a:latin typeface="Hiragino Sans"/>
                  </a:defRPr>
                </a:pPr>
                <a:r>
                  <a:rPr sz="1200" b="0" i="0" u="none" strike="noStrike">
                    <a:solidFill>
                      <a:srgbClr val="5B6B82"/>
                    </a:solidFill>
                    <a:latin typeface="Hiragino Sans"/>
                  </a:rPr>
                  <a:t>100人あたり/年（搬送人員）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0–6歳</c:v>
                </c:pt>
              </c:strCache>
            </c:strRef>
          </c:tx>
          <c:spPr>
            <a:solidFill>
              <a:srgbClr val="9AD0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8.9</c:v>
                </c:pt>
                <c:pt idx="1">
                  <c:v>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7–17歳</c:v>
                </c:pt>
              </c:strCache>
            </c:strRef>
          </c:tx>
          <c:spPr>
            <a:solidFill>
              <a:srgbClr val="BFD7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15.8</c:v>
                </c:pt>
                <c:pt idx="1">
                  <c:v>14.1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18–64歳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100.2</c:v>
                </c:pt>
                <c:pt idx="1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65–74歳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16.5</c:v>
                </c:pt>
                <c:pt idx="1">
                  <c:v>18.4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75–84歳</c:v>
                </c:pt>
              </c:strCache>
            </c:strRef>
          </c:tx>
          <c:spPr>
            <a:solidFill>
              <a:srgbClr val="ED74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13.3</c:v>
                </c:pt>
                <c:pt idx="1">
                  <c:v>13.5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85歳以上</c:v>
                </c:pt>
              </c:strCache>
            </c:strRef>
          </c:tx>
          <c:spPr>
            <a:solidFill>
              <a:srgbClr val="8E3B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2035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6.1</c:v>
                </c:pt>
                <c:pt idx="1">
                  <c:v>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82"/>
                    </a:solidFill>
                    <a:latin typeface="Hiragino Sans"/>
                  </a:defRPr>
                </a:pPr>
                <a:r>
                  <a:rPr sz="1200" b="0" i="0" u="none" strike="noStrike">
                    <a:solidFill>
                      <a:srgbClr val="5B6B82"/>
                    </a:solidFill>
                    <a:latin typeface="Hiragino Sans"/>
                  </a:rPr>
                  <a:t>人口（万人）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68299</c:v>
                </c:pt>
                <c:pt idx="1">
                  <c:v>70968</c:v>
                </c:pt>
                <c:pt idx="2">
                  <c:v>72796</c:v>
                </c:pt>
                <c:pt idx="3">
                  <c:v>76141</c:v>
                </c:pt>
                <c:pt idx="4">
                  <c:v>77763</c:v>
                </c:pt>
                <c:pt idx="5">
                  <c:v>80727</c:v>
                </c:pt>
                <c:pt idx="6">
                  <c:v>81447</c:v>
                </c:pt>
                <c:pt idx="7">
                  <c:v>72700</c:v>
                </c:pt>
                <c:pt idx="8">
                  <c:v>78424</c:v>
                </c:pt>
                <c:pt idx="9">
                  <c:v>94792</c:v>
                </c:pt>
                <c:pt idx="10">
                  <c:v>100007</c:v>
                </c:pt>
                <c:pt idx="11">
                  <c:v>100181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2013〜2019年の傾きで引いた予測線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68607</c:v>
                </c:pt>
                <c:pt idx="1">
                  <c:v>70845</c:v>
                </c:pt>
                <c:pt idx="2">
                  <c:v>73074</c:v>
                </c:pt>
                <c:pt idx="3">
                  <c:v>75487</c:v>
                </c:pt>
                <c:pt idx="4">
                  <c:v>77800</c:v>
                </c:pt>
                <c:pt idx="5">
                  <c:v>80031</c:v>
                </c:pt>
                <c:pt idx="6">
                  <c:v>82285</c:v>
                </c:pt>
                <c:pt idx="7">
                  <c:v>84247</c:v>
                </c:pt>
                <c:pt idx="8">
                  <c:v>86098</c:v>
                </c:pt>
                <c:pt idx="9">
                  <c:v>88393</c:v>
                </c:pt>
                <c:pt idx="10">
                  <c:v>90580</c:v>
                </c:pt>
                <c:pt idx="11">
                  <c:v>93005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  <c:min val="6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65–74歳</c:v>
                  </c:pt>
                  <c:pt idx="1">
                    <c:v>75–84歳</c:v>
                  </c:pt>
                  <c:pt idx="2">
                    <c:v>85歳以上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5.9</c:v>
                </c:pt>
                <c:pt idx="1">
                  <c:v>12</c:v>
                </c:pt>
                <c:pt idx="2">
                  <c:v>24.9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横浜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65–74歳</c:v>
                  </c:pt>
                  <c:pt idx="1">
                    <c:v>75–84歳</c:v>
                  </c:pt>
                  <c:pt idx="2">
                    <c:v>85歳以上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6.3</c:v>
                </c:pt>
                <c:pt idx="1">
                  <c:v>12.3</c:v>
                </c:pt>
                <c:pt idx="2">
                  <c:v>24.8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82"/>
                    </a:solidFill>
                    <a:latin typeface="Hiragino Sans"/>
                  </a:defRPr>
                </a:pPr>
                <a:r>
                  <a:rPr sz="1200" b="0" i="0" u="none" strike="noStrike">
                    <a:solidFill>
                      <a:srgbClr val="5B6B82"/>
                    </a:solidFill>
                    <a:latin typeface="Hiragino Sans"/>
                  </a:rPr>
                  <a:t>人口100人あたり/年（搬送人員）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校正前の計算値</c:v>
                </c:pt>
              </c:strCache>
            </c:strRef>
          </c:tx>
          <c:spPr>
            <a:solidFill>
              <a:srgbClr val="5B6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東区</c:v>
                  </c:pt>
                  <c:pt idx="1">
                    <c:v>博多区</c:v>
                  </c:pt>
                  <c:pt idx="2">
                    <c:v>中央区</c:v>
                  </c:pt>
                  <c:pt idx="3">
                    <c:v>南区</c:v>
                  </c:pt>
                  <c:pt idx="4">
                    <c:v>城南区</c:v>
                  </c:pt>
                  <c:pt idx="5">
                    <c:v>早良区</c:v>
                  </c:pt>
                  <c:pt idx="6">
                    <c:v>西区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20418</c:v>
                </c:pt>
                <c:pt idx="1">
                  <c:v>15845</c:v>
                </c:pt>
                <c:pt idx="2">
                  <c:v>13023</c:v>
                </c:pt>
                <c:pt idx="3">
                  <c:v>16702</c:v>
                </c:pt>
                <c:pt idx="4">
                  <c:v>8314</c:v>
                </c:pt>
                <c:pt idx="5">
                  <c:v>14252</c:v>
                </c:pt>
                <c:pt idx="6">
                  <c:v>13386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実績（2024年）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東区</c:v>
                  </c:pt>
                  <c:pt idx="1">
                    <c:v>博多区</c:v>
                  </c:pt>
                  <c:pt idx="2">
                    <c:v>中央区</c:v>
                  </c:pt>
                  <c:pt idx="3">
                    <c:v>南区</c:v>
                  </c:pt>
                  <c:pt idx="4">
                    <c:v>城南区</c:v>
                  </c:pt>
                  <c:pt idx="5">
                    <c:v>早良区</c:v>
                  </c:pt>
                  <c:pt idx="6">
                    <c:v>西区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18131</c:v>
                </c:pt>
                <c:pt idx="1">
                  <c:v>20076</c:v>
                </c:pt>
                <c:pt idx="2">
                  <c:v>15016</c:v>
                </c:pt>
                <c:pt idx="3">
                  <c:v>15249</c:v>
                </c:pt>
                <c:pt idx="4">
                  <c:v>7275</c:v>
                </c:pt>
                <c:pt idx="5">
                  <c:v>12599</c:v>
                </c:pt>
                <c:pt idx="6">
                  <c:v>11793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出場件数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2024年 実績</c:v>
                  </c:pt>
                  <c:pt idx="1">
                    <c:v>2035 下限 +11.9%</c:v>
                  </c:pt>
                  <c:pt idx="2">
                    <c:v>2035 中間 +24.9%</c:v>
                  </c:pt>
                  <c:pt idx="3">
                    <c:v>2035 上限 +37.9%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100181</c:v>
                </c:pt>
                <c:pt idx="1">
                  <c:v>112124</c:v>
                </c:pt>
                <c:pt idx="2">
                  <c:v>125165</c:v>
                </c:pt>
                <c:pt idx="3">
                  <c:v>138192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増加率（%）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中央区</c:v>
                  </c:pt>
                  <c:pt idx="1">
                    <c:v>城南区</c:v>
                  </c:pt>
                  <c:pt idx="2">
                    <c:v>東区</c:v>
                  </c:pt>
                  <c:pt idx="3">
                    <c:v>南区</c:v>
                  </c:pt>
                  <c:pt idx="4">
                    <c:v>早良区</c:v>
                  </c:pt>
                  <c:pt idx="5">
                    <c:v>西区</c:v>
                  </c:pt>
                  <c:pt idx="6">
                    <c:v>博多区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14.7</c:v>
                </c:pt>
                <c:pt idx="1">
                  <c:v>13.5</c:v>
                </c:pt>
                <c:pt idx="2">
                  <c:v>12.6</c:v>
                </c:pt>
                <c:pt idx="3">
                  <c:v>12</c:v>
                </c:pt>
                <c:pt idx="4">
                  <c:v>11.6</c:v>
                </c:pt>
                <c:pt idx="5">
                  <c:v>10.7</c:v>
                </c:pt>
                <c:pt idx="6">
                  <c:v>9.8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住民1,000人あたり出場（件）</c:v>
                </c:pt>
              </c:strCache>
            </c:strRef>
          </c:tx>
          <c:spPr>
            <a:solidFill>
              <a:srgbClr val="F7C6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C6C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東区</c:v>
                  </c:pt>
                  <c:pt idx="1">
                    <c:v>博多区</c:v>
                  </c:pt>
                  <c:pt idx="2">
                    <c:v>中央区</c:v>
                  </c:pt>
                  <c:pt idx="3">
                    <c:v>南区</c:v>
                  </c:pt>
                  <c:pt idx="4">
                    <c:v>城南区</c:v>
                  </c:pt>
                  <c:pt idx="5">
                    <c:v>早良区</c:v>
                  </c:pt>
                  <c:pt idx="6">
                    <c:v>西区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82</c:v>
                </c:pt>
                <c:pt idx="2">
                  <c:v>75</c:v>
                </c:pt>
                <c:pt idx="3">
                  <c:v>56</c:v>
                </c:pt>
                <c:pt idx="4">
                  <c:v>57</c:v>
                </c:pt>
                <c:pt idx="5">
                  <c:v>56</c:v>
                </c:pt>
                <c:pt idx="6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82"/>
                    </a:solidFill>
                    <a:latin typeface="Hiragino Sans"/>
                  </a:defRPr>
                </a:pPr>
                <a:r>
                  <a:rPr sz="1200" b="0" i="0" u="none" strike="noStrike">
                    <a:solidFill>
                      <a:srgbClr val="5B6B82"/>
                    </a:solidFill>
                    <a:latin typeface="Hiragino Sans"/>
                  </a:rPr>
                  <a:t>住民1,000人あたり出場（2024年・件）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1隊あたり出場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南区</c:v>
                  </c:pt>
                  <c:pt idx="1">
                    <c:v>早良区</c:v>
                  </c:pt>
                  <c:pt idx="2">
                    <c:v>中央区</c:v>
                  </c:pt>
                  <c:pt idx="3">
                    <c:v>西区</c:v>
                  </c:pt>
                  <c:pt idx="4">
                    <c:v>博多区</c:v>
                  </c:pt>
                  <c:pt idx="5">
                    <c:v>東区</c:v>
                  </c:pt>
                  <c:pt idx="6">
                    <c:v>城南区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3812</c:v>
                </c:pt>
                <c:pt idx="1">
                  <c:v>3150</c:v>
                </c:pt>
                <c:pt idx="2">
                  <c:v>3003</c:v>
                </c:pt>
                <c:pt idx="3">
                  <c:v>2948</c:v>
                </c:pt>
                <c:pt idx="4">
                  <c:v>2868</c:v>
                </c:pt>
                <c:pt idx="5">
                  <c:v>2590</c:v>
                </c:pt>
                <c:pt idx="6">
                  <c:v>2425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隊数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現行</c:v>
                  </c:pt>
                  <c:pt idx="1">
                    <c:v>2025年</c:v>
                  </c:pt>
                  <c:pt idx="2">
                    <c:v>2035年</c:v>
                  </c:pt>
                  <c:pt idx="3">
                    <c:v>2050年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35</c:v>
                </c:pt>
                <c:pt idx="2">
                  <c:v>39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1隊あたり出場（2035年・推定）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堅粕</c:v>
                  </c:pt>
                  <c:pt idx="1">
                    <c:v>曰佐</c:v>
                  </c:pt>
                  <c:pt idx="2">
                    <c:v>田隈</c:v>
                  </c:pt>
                  <c:pt idx="3">
                    <c:v>姪浜</c:v>
                  </c:pt>
                  <c:pt idx="4">
                    <c:v>和白</c:v>
                  </c:pt>
                  <c:pt idx="5">
                    <c:v>桧原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7102</c:v>
                </c:pt>
                <c:pt idx="1">
                  <c:v>6175</c:v>
                </c:pt>
                <c:pt idx="2">
                  <c:v>5873</c:v>
                </c:pt>
                <c:pt idx="3">
                  <c:v>5597</c:v>
                </c:pt>
                <c:pt idx="4">
                  <c:v>4955</c:v>
                </c:pt>
                <c:pt idx="5">
                  <c:v>4839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人口（2025=100）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  <c:pt idx="11">
                    <c:v>2036</c:v>
                  </c:pt>
                  <c:pt idx="12">
                    <c:v>2037</c:v>
                  </c:pt>
                  <c:pt idx="13">
                    <c:v>2038</c:v>
                  </c:pt>
                  <c:pt idx="14">
                    <c:v>2039</c:v>
                  </c:pt>
                  <c:pt idx="15">
                    <c:v>2040</c:v>
                  </c:pt>
                  <c:pt idx="16">
                    <c:v>2041</c:v>
                  </c:pt>
                  <c:pt idx="17">
                    <c:v>2042</c:v>
                  </c:pt>
                  <c:pt idx="18">
                    <c:v>2043</c:v>
                  </c:pt>
                  <c:pt idx="19">
                    <c:v>2044</c:v>
                  </c:pt>
                  <c:pt idx="20">
                    <c:v>2045</c:v>
                  </c:pt>
                  <c:pt idx="21">
                    <c:v>2046</c:v>
                  </c:pt>
                  <c:pt idx="22">
                    <c:v>2047</c:v>
                  </c:pt>
                  <c:pt idx="23">
                    <c:v>2048</c:v>
                  </c:pt>
                  <c:pt idx="24">
                    <c:v>2049</c:v>
                  </c:pt>
                  <c:pt idx="25">
                    <c:v>2050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100</c:v>
                </c:pt>
                <c:pt idx="1">
                  <c:v>100.3</c:v>
                </c:pt>
                <c:pt idx="2">
                  <c:v>100.5</c:v>
                </c:pt>
                <c:pt idx="3">
                  <c:v>100.8</c:v>
                </c:pt>
                <c:pt idx="4">
                  <c:v>101</c:v>
                </c:pt>
                <c:pt idx="5">
                  <c:v>101.3</c:v>
                </c:pt>
                <c:pt idx="6">
                  <c:v>101.5</c:v>
                </c:pt>
                <c:pt idx="7">
                  <c:v>101.7</c:v>
                </c:pt>
                <c:pt idx="8">
                  <c:v>102</c:v>
                </c:pt>
                <c:pt idx="9">
                  <c:v>102.1</c:v>
                </c:pt>
                <c:pt idx="10">
                  <c:v>102.3</c:v>
                </c:pt>
                <c:pt idx="11">
                  <c:v>102.4</c:v>
                </c:pt>
                <c:pt idx="12">
                  <c:v>102.6</c:v>
                </c:pt>
                <c:pt idx="13">
                  <c:v>102.7</c:v>
                </c:pt>
                <c:pt idx="14">
                  <c:v>102.7</c:v>
                </c:pt>
                <c:pt idx="15">
                  <c:v>102.7</c:v>
                </c:pt>
                <c:pt idx="16">
                  <c:v>102.7</c:v>
                </c:pt>
                <c:pt idx="17">
                  <c:v>102.6</c:v>
                </c:pt>
                <c:pt idx="18">
                  <c:v>102.5</c:v>
                </c:pt>
                <c:pt idx="19">
                  <c:v>102.5</c:v>
                </c:pt>
                <c:pt idx="20">
                  <c:v>102.4</c:v>
                </c:pt>
                <c:pt idx="21">
                  <c:v>102.3</c:v>
                </c:pt>
                <c:pt idx="22">
                  <c:v>102.2</c:v>
                </c:pt>
                <c:pt idx="23">
                  <c:v>102.1</c:v>
                </c:pt>
                <c:pt idx="24">
                  <c:v>102</c:v>
                </c:pt>
                <c:pt idx="25">
                  <c:v>101.8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出場件数 下限（2025=100）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Hiragino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  <c:pt idx="11">
                    <c:v>2036</c:v>
                  </c:pt>
                  <c:pt idx="12">
                    <c:v>2037</c:v>
                  </c:pt>
                  <c:pt idx="13">
                    <c:v>2038</c:v>
                  </c:pt>
                  <c:pt idx="14">
                    <c:v>2039</c:v>
                  </c:pt>
                  <c:pt idx="15">
                    <c:v>2040</c:v>
                  </c:pt>
                  <c:pt idx="16">
                    <c:v>2041</c:v>
                  </c:pt>
                  <c:pt idx="17">
                    <c:v>2042</c:v>
                  </c:pt>
                  <c:pt idx="18">
                    <c:v>2043</c:v>
                  </c:pt>
                  <c:pt idx="19">
                    <c:v>2044</c:v>
                  </c:pt>
                  <c:pt idx="20">
                    <c:v>2045</c:v>
                  </c:pt>
                  <c:pt idx="21">
                    <c:v>2046</c:v>
                  </c:pt>
                  <c:pt idx="22">
                    <c:v>2047</c:v>
                  </c:pt>
                  <c:pt idx="23">
                    <c:v>2048</c:v>
                  </c:pt>
                  <c:pt idx="24">
                    <c:v>2049</c:v>
                  </c:pt>
                  <c:pt idx="25">
                    <c:v>2050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100</c:v>
                </c:pt>
                <c:pt idx="1">
                  <c:v>101.2</c:v>
                </c:pt>
                <c:pt idx="2">
                  <c:v>102.4</c:v>
                </c:pt>
                <c:pt idx="3">
                  <c:v>103.4</c:v>
                </c:pt>
                <c:pt idx="4">
                  <c:v>104.4</c:v>
                </c:pt>
                <c:pt idx="5">
                  <c:v>105.8</c:v>
                </c:pt>
                <c:pt idx="6">
                  <c:v>106.4</c:v>
                </c:pt>
                <c:pt idx="7">
                  <c:v>107.8</c:v>
                </c:pt>
                <c:pt idx="8">
                  <c:v>109.3</c:v>
                </c:pt>
                <c:pt idx="9">
                  <c:v>110.8</c:v>
                </c:pt>
                <c:pt idx="10">
                  <c:v>112</c:v>
                </c:pt>
                <c:pt idx="11">
                  <c:v>113</c:v>
                </c:pt>
                <c:pt idx="12">
                  <c:v>114.1</c:v>
                </c:pt>
                <c:pt idx="13">
                  <c:v>115</c:v>
                </c:pt>
                <c:pt idx="14">
                  <c:v>115.6</c:v>
                </c:pt>
                <c:pt idx="15">
                  <c:v>116.1</c:v>
                </c:pt>
                <c:pt idx="16">
                  <c:v>116.3</c:v>
                </c:pt>
                <c:pt idx="17">
                  <c:v>116.5</c:v>
                </c:pt>
                <c:pt idx="18">
                  <c:v>116.8</c:v>
                </c:pt>
                <c:pt idx="19">
                  <c:v>117.3</c:v>
                </c:pt>
                <c:pt idx="20">
                  <c:v>117.8</c:v>
                </c:pt>
                <c:pt idx="21">
                  <c:v>118.3</c:v>
                </c:pt>
                <c:pt idx="22">
                  <c:v>118.9</c:v>
                </c:pt>
                <c:pt idx="23">
                  <c:v>119.8</c:v>
                </c:pt>
                <c:pt idx="24">
                  <c:v>120.7</c:v>
                </c:pt>
                <c:pt idx="25">
                  <c:v>121.6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Hiragin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Hiragino San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Hiragino Sans"/>
              <a:cs typeface="Hiragin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、福岡市の救急車が10年後に何回出動することになるのかを、公開されている資料から計算し直した結果をお話しします。専門的な統計の知識は要りません。これは公表資料の再計算であり、市の公式見解ではない点だけ最初にお断りして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では、救急の出動が何件になるか、どの年代が増えるか、どこが先に忙しくなるかの3点をお伝えします。あわせて、その数字がどこから来ていて、どれくらい当てになるのかも最後にお話しします。10分ほどで一通りつかめる構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年の救急出場は100,181件で、1日あたり約274件、およそ5分に1回出動している計算です。2013年と比べて1.47倍に増え、救急隊も27隊から34隊に増やしてきました。搬送された人は87,291人で、市民のおよそ19人に1人が利用しています。出場とは救急車が現場へ向かった回数の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2025年を100とすると、2035年の人口は約102、出場件数は約112になります。人口は2.3%しか増えないのに、救急の出場は12.0%増える見通しです。なぜ差が出るのかというと、答えは年齢にあります。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ラフは、1年間に100人のうち何人が救急車で運ばれるかを年齢帯ごとに示しています。搬送率というのは、1年に救急車で運ばれる人の割合のことです。85歳以上では約3.4人に1人が運ばれ、これは18歳から64歳の約9.5倍にあた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年から2035年にかけて、人口の全体はほとんど変わりませんが、85歳以上だけが6.1万人から9.3万人へ約1.5倍になります。65歳以上でみると35.9万人から41.2万人で、人口に占める割合は22.3%から25.0%です。増える出場は約12,000件で、これは65歳以上の増加分(約12,300件)でほぼ説明がつき、65歳未満はむしろ減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ったデータはすべて公開されている資料です。未来の人口は市の将来人口推計、いまの出場件数や年齢別の搬送は消防年報、昼間の人口は国勢調査から取っています。ご自身で確かめられるように、URLはサイトの方法タブに載せ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算は5つのステップです。まず区と年齢ごとの人口を用意し、市の推計で未来の人口に置き換えます。次に、年齢ごとの運ばれる割合を掛け、昼に区外から来る人のぶんを足します。最後に実際の件数に合うよう倍率で合わせます。この倍率が校正係数で、人口から計算した件数と実際の件数の差を埋める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東区を例に計算の流れを見てみます。年齢ごとの人口に運ばれる割合を掛けて搬送人員を出し、昼間補正を足して、出場と搬送の比と校正係数を掛けると出場件数になります。2025年の18,131件が2035年には20,409件で、12.6%増えます。増えるぶんの中心は85歳以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福岡市の公表データだけでは足りない部分は、ほかの資料から値を借りています。高齢者の中の年齢比は全国値、昼間補正の係数は通勤・通学者が区内にいる時間の割合、2035年以降の区別の年齢内訳は社人研の構成比です。借りた値はすべてサイトの方法タブで公開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2013年から2019年のデータだけで傾きを引き、2022年から2024年の実績を当ててみました。結果は7%から9%ほど低く見積もる形になりました。コロナ後に利用が一段増えたためで、そこで上限シナリオを置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国と横浜市でも、年齢が上がるほど運ばれる割合が高くなる形は同じです。ただし水準そのものは地域で違い、福岡の65歳以上は全国より約15%高く出ています。そこで、形は他の都市の知見を借り、水準は福岡の実測値に合わせ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正係数は、人口から計算した件数と実際の件数の差を埋める倍率です。市全体では、計算値は実績の1.018倍とほぼ一致しています。ただし博多区と中央区だけは係数が1.27、1.15と大きく、これは昼間に人が集まる都心だからで、次のスライドで詳しく見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2035年の出場件数は、下限で112,124件、中間で125,165件、上限で138,192件と見込んでいます。下限は1人あたりの利用が今のままで、人口の変化だけを反映したものです。中間はコロナ前の伸びが続く場合、上限はコロナ後の伸びが続く場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どの区でも出場は10%から15%増えます。一番増えるのは中央区の14.7%、一番少ないのは博多区の9.8%で、区ごとの差は小さいです。右の地図は増え方が大きいほど濃い赤にしています。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住民1,000人あたりの出場は、博多区が82、中央区が75で、ほかの5区の55から57より目立って多くなっています。理由は昼間人口で、博多区は昼間の人口が夜間の1.59倍もいます。昼間補正とは、通勤・通学で昼に来る人のぶんを足すことで、博多区では約2,400件分にあた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は区ごとの救急隊1隊あたりの出場件数で、南区が3,812件と最も多く、東区が2,590件と最も少なくなっています。右は国の整備指針に当てはめた基準の隊数で、今の34隊に対し、2025年で35隊、2035年で39隊になります。基準で見ると、すでに1隊足りず、2035年には5隊足りない計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署所ごとの負担は推定です。1キロメートル四方の人口を最寄りの署所に割り振った目安で、公式の統計ではありません。2035年に1隊あたりの出場が最も多いのは堅粕の7,102件で、出張所に隊が1隊だけの署所に負担が集中する傾向があります。3,000件を超える署所は、26か所のうち13か所から15か所に増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年を100とすると、人口は2040年ごろにピークを迎えて、その後は減っていきます。それでも出場件数は下限シナリオで2050年に約12.2万件まで増え続けます。2040年以降に増えるのは75歳から84歳と85歳以上で、人口が減っても高齢者は増え続けるた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の数字を使うときの注意を5つ挙げます。全体は公表資料の再計算で市の公式見解ではないこと、署所別は目安にすぎないこと、上限シナリオは強い前提であることなどです。特に上限は、年1.9%の複利で伸びる仮定で、2050年に約2倍になります。数字を引用するときはこの注意も一緒に伝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10年で12%の増加は確実で、25%から38%もあり得ます。増えるのは85歳以上で、基準の隊数は今すでに不足しており、先に詰まるのは1隊だけの出張所です。次の一歩として、増隊の目安づくり、昼間人口を考えた配置、適正利用の啓発を提案します。詳しい数字はサイトで見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793897" y="640080"/>
            <a:ext cx="2763354" cy="2000357"/>
          </a:xfrm>
          <a:custGeom>
            <a:avLst/>
            <a:gdLst/>
            <a:ahLst/>
            <a:cxnLst/>
            <a:rect l="l" t="t" r="r" b="b"/>
            <a:pathLst>
              <a:path w="2763354" h="2000357">
                <a:moveTo>
                  <a:pt x="1256639" y="778751"/>
                </a:moveTo>
                <a:lnTo>
                  <a:pt x="773677" y="896971"/>
                </a:lnTo>
                <a:lnTo>
                  <a:pt x="772114" y="926995"/>
                </a:lnTo>
                <a:lnTo>
                  <a:pt x="664268" y="1011438"/>
                </a:lnTo>
                <a:lnTo>
                  <a:pt x="639260" y="1200965"/>
                </a:lnTo>
                <a:lnTo>
                  <a:pt x="662705" y="1249754"/>
                </a:lnTo>
                <a:lnTo>
                  <a:pt x="689276" y="1255384"/>
                </a:lnTo>
                <a:lnTo>
                  <a:pt x="675209" y="1281655"/>
                </a:lnTo>
                <a:lnTo>
                  <a:pt x="614252" y="1298543"/>
                </a:lnTo>
                <a:lnTo>
                  <a:pt x="568926" y="1279778"/>
                </a:lnTo>
                <a:lnTo>
                  <a:pt x="500155" y="1202842"/>
                </a:lnTo>
                <a:lnTo>
                  <a:pt x="342293" y="1139040"/>
                </a:lnTo>
                <a:lnTo>
                  <a:pt x="245388" y="1185953"/>
                </a:lnTo>
                <a:lnTo>
                  <a:pt x="120350" y="998302"/>
                </a:lnTo>
                <a:lnTo>
                  <a:pt x="0" y="968278"/>
                </a:lnTo>
                <a:lnTo>
                  <a:pt x="196936" y="983290"/>
                </a:lnTo>
                <a:lnTo>
                  <a:pt x="409502" y="957019"/>
                </a:lnTo>
                <a:lnTo>
                  <a:pt x="547044" y="876329"/>
                </a:lnTo>
                <a:lnTo>
                  <a:pt x="658016" y="853811"/>
                </a:lnTo>
                <a:lnTo>
                  <a:pt x="859641" y="769368"/>
                </a:lnTo>
                <a:lnTo>
                  <a:pt x="1069081" y="638013"/>
                </a:lnTo>
                <a:lnTo>
                  <a:pt x="1280083" y="469127"/>
                </a:lnTo>
                <a:lnTo>
                  <a:pt x="1369173" y="358413"/>
                </a:lnTo>
                <a:lnTo>
                  <a:pt x="1366047" y="337771"/>
                </a:lnTo>
                <a:lnTo>
                  <a:pt x="1351980" y="322759"/>
                </a:lnTo>
                <a:lnTo>
                  <a:pt x="1350418" y="315253"/>
                </a:lnTo>
                <a:lnTo>
                  <a:pt x="1383240" y="354660"/>
                </a:lnTo>
                <a:lnTo>
                  <a:pt x="1406685" y="326512"/>
                </a:lnTo>
                <a:lnTo>
                  <a:pt x="1344166" y="305871"/>
                </a:lnTo>
                <a:lnTo>
                  <a:pt x="1405122" y="320883"/>
                </a:lnTo>
                <a:lnTo>
                  <a:pt x="1450448" y="285229"/>
                </a:lnTo>
                <a:lnTo>
                  <a:pt x="1534850" y="180145"/>
                </a:lnTo>
                <a:lnTo>
                  <a:pt x="1528598" y="108837"/>
                </a:lnTo>
                <a:lnTo>
                  <a:pt x="1558294" y="0"/>
                </a:lnTo>
                <a:lnTo>
                  <a:pt x="1659888" y="30024"/>
                </a:lnTo>
                <a:lnTo>
                  <a:pt x="1647384" y="75060"/>
                </a:lnTo>
                <a:lnTo>
                  <a:pt x="1678644" y="48789"/>
                </a:lnTo>
                <a:lnTo>
                  <a:pt x="1702089" y="76937"/>
                </a:lnTo>
                <a:lnTo>
                  <a:pt x="1720845" y="50666"/>
                </a:lnTo>
                <a:lnTo>
                  <a:pt x="1730222" y="78813"/>
                </a:lnTo>
                <a:lnTo>
                  <a:pt x="1758356" y="80690"/>
                </a:lnTo>
                <a:lnTo>
                  <a:pt x="1748978" y="103208"/>
                </a:lnTo>
                <a:lnTo>
                  <a:pt x="1838068" y="182021"/>
                </a:lnTo>
                <a:lnTo>
                  <a:pt x="1886521" y="193280"/>
                </a:lnTo>
                <a:lnTo>
                  <a:pt x="1924032" y="255205"/>
                </a:lnTo>
                <a:lnTo>
                  <a:pt x="1942788" y="238316"/>
                </a:lnTo>
                <a:lnTo>
                  <a:pt x="1931847" y="213922"/>
                </a:lnTo>
                <a:lnTo>
                  <a:pt x="2027189" y="275847"/>
                </a:lnTo>
                <a:lnTo>
                  <a:pt x="2014685" y="303994"/>
                </a:lnTo>
                <a:lnTo>
                  <a:pt x="2035004" y="382808"/>
                </a:lnTo>
                <a:lnTo>
                  <a:pt x="2142850" y="619248"/>
                </a:lnTo>
                <a:lnTo>
                  <a:pt x="2219436" y="602359"/>
                </a:lnTo>
                <a:lnTo>
                  <a:pt x="2289770" y="553570"/>
                </a:lnTo>
                <a:lnTo>
                  <a:pt x="2356979" y="619248"/>
                </a:lnTo>
                <a:lnTo>
                  <a:pt x="2328845" y="679296"/>
                </a:lnTo>
                <a:lnTo>
                  <a:pt x="2330408" y="731838"/>
                </a:lnTo>
                <a:lnTo>
                  <a:pt x="2386675" y="820034"/>
                </a:lnTo>
                <a:lnTo>
                  <a:pt x="2358542" y="851935"/>
                </a:lnTo>
                <a:lnTo>
                  <a:pt x="2496084" y="1073362"/>
                </a:lnTo>
                <a:lnTo>
                  <a:pt x="2519529" y="1078992"/>
                </a:lnTo>
                <a:lnTo>
                  <a:pt x="2516403" y="1197212"/>
                </a:lnTo>
                <a:lnTo>
                  <a:pt x="2571107" y="1185953"/>
                </a:lnTo>
                <a:lnTo>
                  <a:pt x="2613308" y="1148423"/>
                </a:lnTo>
                <a:lnTo>
                  <a:pt x="2607056" y="1184076"/>
                </a:lnTo>
                <a:lnTo>
                  <a:pt x="2639879" y="1225360"/>
                </a:lnTo>
                <a:lnTo>
                  <a:pt x="2691457" y="1184076"/>
                </a:lnTo>
                <a:lnTo>
                  <a:pt x="2763354" y="1247878"/>
                </a:lnTo>
                <a:lnTo>
                  <a:pt x="2721154" y="1328568"/>
                </a:lnTo>
                <a:lnTo>
                  <a:pt x="2746162" y="1351086"/>
                </a:lnTo>
                <a:lnTo>
                  <a:pt x="2730532" y="1426146"/>
                </a:lnTo>
                <a:lnTo>
                  <a:pt x="2758665" y="1444911"/>
                </a:lnTo>
                <a:lnTo>
                  <a:pt x="2739910" y="1467429"/>
                </a:lnTo>
                <a:lnTo>
                  <a:pt x="2757102" y="1516218"/>
                </a:lnTo>
                <a:lnTo>
                  <a:pt x="2657071" y="1574390"/>
                </a:lnTo>
                <a:lnTo>
                  <a:pt x="2633627" y="1559378"/>
                </a:lnTo>
                <a:lnTo>
                  <a:pt x="2621123" y="1608167"/>
                </a:lnTo>
                <a:lnTo>
                  <a:pt x="2564855" y="1585649"/>
                </a:lnTo>
                <a:lnTo>
                  <a:pt x="2569544" y="1542489"/>
                </a:lnTo>
                <a:lnTo>
                  <a:pt x="2539848" y="1534983"/>
                </a:lnTo>
                <a:lnTo>
                  <a:pt x="2547663" y="1512465"/>
                </a:lnTo>
                <a:lnTo>
                  <a:pt x="2522655" y="1488071"/>
                </a:lnTo>
                <a:lnTo>
                  <a:pt x="2458573" y="1474935"/>
                </a:lnTo>
                <a:lnTo>
                  <a:pt x="2408557" y="1413010"/>
                </a:lnTo>
                <a:lnTo>
                  <a:pt x="2392927" y="1444911"/>
                </a:lnTo>
                <a:lnTo>
                  <a:pt x="2344475" y="1463676"/>
                </a:lnTo>
                <a:lnTo>
                  <a:pt x="2339786" y="1516218"/>
                </a:lnTo>
                <a:lnTo>
                  <a:pt x="2236629" y="1548119"/>
                </a:lnTo>
                <a:lnTo>
                  <a:pt x="2172547" y="1651327"/>
                </a:lnTo>
                <a:lnTo>
                  <a:pt x="2125657" y="1643821"/>
                </a:lnTo>
                <a:lnTo>
                  <a:pt x="2086583" y="1756411"/>
                </a:lnTo>
                <a:lnTo>
                  <a:pt x="2061575" y="1747029"/>
                </a:lnTo>
                <a:lnTo>
                  <a:pt x="1922469" y="1872755"/>
                </a:lnTo>
                <a:lnTo>
                  <a:pt x="1980300" y="1944062"/>
                </a:lnTo>
                <a:lnTo>
                  <a:pt x="1934973" y="1975963"/>
                </a:lnTo>
                <a:lnTo>
                  <a:pt x="1941225" y="1990975"/>
                </a:lnTo>
                <a:lnTo>
                  <a:pt x="1809935" y="1962827"/>
                </a:lnTo>
                <a:lnTo>
                  <a:pt x="1733348" y="1902779"/>
                </a:lnTo>
                <a:lnTo>
                  <a:pt x="1717719" y="1917791"/>
                </a:lnTo>
                <a:lnTo>
                  <a:pt x="1733348" y="1947815"/>
                </a:lnTo>
                <a:lnTo>
                  <a:pt x="1680207" y="1962827"/>
                </a:lnTo>
                <a:lnTo>
                  <a:pt x="1664577" y="1904655"/>
                </a:lnTo>
                <a:lnTo>
                  <a:pt x="1634880" y="1992851"/>
                </a:lnTo>
                <a:lnTo>
                  <a:pt x="1558294" y="1951568"/>
                </a:lnTo>
                <a:lnTo>
                  <a:pt x="1523909" y="2000357"/>
                </a:lnTo>
                <a:lnTo>
                  <a:pt x="1459826" y="1947815"/>
                </a:lnTo>
                <a:lnTo>
                  <a:pt x="1467641" y="1930927"/>
                </a:lnTo>
                <a:lnTo>
                  <a:pt x="1405122" y="1906532"/>
                </a:lnTo>
                <a:lnTo>
                  <a:pt x="1369173" y="1929050"/>
                </a:lnTo>
                <a:lnTo>
                  <a:pt x="1273831" y="1855866"/>
                </a:lnTo>
                <a:lnTo>
                  <a:pt x="1292587" y="1840854"/>
                </a:lnTo>
                <a:lnTo>
                  <a:pt x="1278520" y="1825842"/>
                </a:lnTo>
                <a:lnTo>
                  <a:pt x="1300402" y="1763917"/>
                </a:lnTo>
                <a:lnTo>
                  <a:pt x="1350418" y="1747029"/>
                </a:lnTo>
                <a:lnTo>
                  <a:pt x="1498901" y="1792065"/>
                </a:lnTo>
                <a:lnTo>
                  <a:pt x="1505153" y="1767670"/>
                </a:lnTo>
                <a:lnTo>
                  <a:pt x="1489523" y="1763917"/>
                </a:lnTo>
                <a:lnTo>
                  <a:pt x="1512968" y="1720758"/>
                </a:lnTo>
                <a:lnTo>
                  <a:pt x="1495775" y="1713252"/>
                </a:lnTo>
                <a:lnTo>
                  <a:pt x="1481708" y="1760164"/>
                </a:lnTo>
                <a:lnTo>
                  <a:pt x="1473893" y="1726387"/>
                </a:lnTo>
                <a:lnTo>
                  <a:pt x="1330099" y="1671968"/>
                </a:lnTo>
                <a:lnTo>
                  <a:pt x="1364484" y="1568761"/>
                </a:lnTo>
                <a:lnTo>
                  <a:pt x="1408248" y="1557501"/>
                </a:lnTo>
                <a:lnTo>
                  <a:pt x="1430130" y="1493700"/>
                </a:lnTo>
                <a:lnTo>
                  <a:pt x="1344166" y="1465553"/>
                </a:lnTo>
                <a:lnTo>
                  <a:pt x="1400433" y="1296667"/>
                </a:lnTo>
                <a:lnTo>
                  <a:pt x="1395744" y="1313555"/>
                </a:lnTo>
                <a:lnTo>
                  <a:pt x="1442634" y="1330444"/>
                </a:lnTo>
                <a:lnTo>
                  <a:pt x="1456700" y="1291037"/>
                </a:lnTo>
                <a:lnTo>
                  <a:pt x="1409811" y="1274149"/>
                </a:lnTo>
                <a:lnTo>
                  <a:pt x="1403559" y="1291037"/>
                </a:lnTo>
                <a:lnTo>
                  <a:pt x="1408248" y="1272272"/>
                </a:lnTo>
                <a:lnTo>
                  <a:pt x="1600495" y="1337950"/>
                </a:lnTo>
                <a:lnTo>
                  <a:pt x="1614562" y="1306049"/>
                </a:lnTo>
                <a:lnTo>
                  <a:pt x="1612999" y="1259137"/>
                </a:lnTo>
                <a:lnTo>
                  <a:pt x="1619251" y="1259137"/>
                </a:lnTo>
                <a:lnTo>
                  <a:pt x="1619251" y="1217854"/>
                </a:lnTo>
                <a:lnTo>
                  <a:pt x="1617688" y="1234742"/>
                </a:lnTo>
                <a:lnTo>
                  <a:pt x="1612999" y="1206595"/>
                </a:lnTo>
                <a:lnTo>
                  <a:pt x="1544227" y="1187829"/>
                </a:lnTo>
                <a:lnTo>
                  <a:pt x="1483271" y="1208471"/>
                </a:lnTo>
                <a:lnTo>
                  <a:pt x="1380114" y="1174694"/>
                </a:lnTo>
                <a:lnTo>
                  <a:pt x="1358232" y="1131534"/>
                </a:lnTo>
                <a:lnTo>
                  <a:pt x="1678644" y="973908"/>
                </a:lnTo>
                <a:lnTo>
                  <a:pt x="1788053" y="1003932"/>
                </a:lnTo>
                <a:lnTo>
                  <a:pt x="1819312" y="943883"/>
                </a:lnTo>
                <a:lnTo>
                  <a:pt x="1813061" y="891341"/>
                </a:lnTo>
                <a:lnTo>
                  <a:pt x="1752104" y="848182"/>
                </a:lnTo>
                <a:lnTo>
                  <a:pt x="1680207" y="699937"/>
                </a:lnTo>
                <a:lnTo>
                  <a:pt x="1792742" y="619248"/>
                </a:lnTo>
                <a:lnTo>
                  <a:pt x="1775549" y="508534"/>
                </a:lnTo>
                <a:lnTo>
                  <a:pt x="1716156" y="455991"/>
                </a:lnTo>
                <a:lnTo>
                  <a:pt x="1709904" y="487892"/>
                </a:lnTo>
                <a:lnTo>
                  <a:pt x="1622377" y="480386"/>
                </a:lnTo>
                <a:lnTo>
                  <a:pt x="1562983" y="491645"/>
                </a:lnTo>
                <a:lnTo>
                  <a:pt x="1512968" y="534805"/>
                </a:lnTo>
                <a:lnTo>
                  <a:pt x="1406685" y="546064"/>
                </a:lnTo>
                <a:lnTo>
                  <a:pt x="1342603" y="581717"/>
                </a:lnTo>
                <a:lnTo>
                  <a:pt x="1351980" y="598606"/>
                </a:lnTo>
                <a:lnTo>
                  <a:pt x="1358232" y="613618"/>
                </a:lnTo>
                <a:lnTo>
                  <a:pt x="1342603" y="581717"/>
                </a:lnTo>
                <a:lnTo>
                  <a:pt x="1323847" y="607989"/>
                </a:lnTo>
                <a:lnTo>
                  <a:pt x="1351980" y="679296"/>
                </a:lnTo>
                <a:lnTo>
                  <a:pt x="1394181" y="669913"/>
                </a:lnTo>
                <a:lnTo>
                  <a:pt x="1389492" y="686802"/>
                </a:lnTo>
                <a:lnTo>
                  <a:pt x="1256639" y="7787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92180" y="1071677"/>
            <a:ext cx="493903" cy="574211"/>
          </a:xfrm>
          <a:custGeom>
            <a:avLst/>
            <a:gdLst/>
            <a:ahLst/>
            <a:cxnLst/>
            <a:rect l="l" t="t" r="r" b="b"/>
            <a:pathLst>
              <a:path w="493903" h="574211">
                <a:moveTo>
                  <a:pt x="428257" y="390314"/>
                </a:moveTo>
                <a:lnTo>
                  <a:pt x="493903" y="465374"/>
                </a:lnTo>
                <a:lnTo>
                  <a:pt x="448576" y="442856"/>
                </a:lnTo>
                <a:lnTo>
                  <a:pt x="456391" y="482263"/>
                </a:lnTo>
                <a:lnTo>
                  <a:pt x="476710" y="472880"/>
                </a:lnTo>
                <a:lnTo>
                  <a:pt x="486088" y="474756"/>
                </a:lnTo>
                <a:lnTo>
                  <a:pt x="465769" y="486016"/>
                </a:lnTo>
                <a:lnTo>
                  <a:pt x="487651" y="529175"/>
                </a:lnTo>
                <a:lnTo>
                  <a:pt x="453265" y="521669"/>
                </a:lnTo>
                <a:lnTo>
                  <a:pt x="447013" y="534805"/>
                </a:lnTo>
                <a:lnTo>
                  <a:pt x="434509" y="544187"/>
                </a:lnTo>
                <a:lnTo>
                  <a:pt x="453265" y="519793"/>
                </a:lnTo>
                <a:lnTo>
                  <a:pt x="409502" y="510410"/>
                </a:lnTo>
                <a:lnTo>
                  <a:pt x="406376" y="538558"/>
                </a:lnTo>
                <a:lnTo>
                  <a:pt x="362612" y="559199"/>
                </a:lnTo>
                <a:lnTo>
                  <a:pt x="400124" y="574211"/>
                </a:lnTo>
                <a:lnTo>
                  <a:pt x="196936" y="547940"/>
                </a:lnTo>
                <a:lnTo>
                  <a:pt x="176617" y="497275"/>
                </a:lnTo>
                <a:lnTo>
                  <a:pt x="134417" y="484139"/>
                </a:lnTo>
                <a:lnTo>
                  <a:pt x="120350" y="422214"/>
                </a:lnTo>
                <a:lnTo>
                  <a:pt x="96905" y="424091"/>
                </a:lnTo>
                <a:lnTo>
                  <a:pt x="70334" y="388437"/>
                </a:lnTo>
                <a:lnTo>
                  <a:pt x="90653" y="384684"/>
                </a:lnTo>
                <a:lnTo>
                  <a:pt x="64082" y="349030"/>
                </a:lnTo>
                <a:lnTo>
                  <a:pt x="54704" y="365919"/>
                </a:lnTo>
                <a:lnTo>
                  <a:pt x="48452" y="225181"/>
                </a:lnTo>
                <a:lnTo>
                  <a:pt x="0" y="187651"/>
                </a:lnTo>
                <a:lnTo>
                  <a:pt x="57830" y="103208"/>
                </a:lnTo>
                <a:lnTo>
                  <a:pt x="64082" y="31901"/>
                </a:lnTo>
                <a:lnTo>
                  <a:pt x="135980" y="37530"/>
                </a:lnTo>
                <a:lnTo>
                  <a:pt x="211003" y="0"/>
                </a:lnTo>
                <a:lnTo>
                  <a:pt x="287589" y="43160"/>
                </a:lnTo>
                <a:lnTo>
                  <a:pt x="339167" y="168886"/>
                </a:lnTo>
                <a:lnTo>
                  <a:pt x="387620" y="227057"/>
                </a:lnTo>
                <a:lnTo>
                  <a:pt x="431383" y="343401"/>
                </a:lnTo>
                <a:lnTo>
                  <a:pt x="428257" y="3903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80202" y="1338141"/>
            <a:ext cx="534540" cy="371549"/>
          </a:xfrm>
          <a:custGeom>
            <a:avLst/>
            <a:gdLst/>
            <a:ahLst/>
            <a:cxnLst/>
            <a:rect l="l" t="t" r="r" b="b"/>
            <a:pathLst>
              <a:path w="534540" h="371549">
                <a:moveTo>
                  <a:pt x="439198" y="7506"/>
                </a:moveTo>
                <a:lnTo>
                  <a:pt x="534540" y="200786"/>
                </a:lnTo>
                <a:lnTo>
                  <a:pt x="509533" y="247699"/>
                </a:lnTo>
                <a:lnTo>
                  <a:pt x="367301" y="319006"/>
                </a:lnTo>
                <a:lnTo>
                  <a:pt x="350108" y="283353"/>
                </a:lnTo>
                <a:lnTo>
                  <a:pt x="331352" y="294612"/>
                </a:lnTo>
                <a:lnTo>
                  <a:pt x="346982" y="328389"/>
                </a:lnTo>
                <a:lnTo>
                  <a:pt x="314160" y="260835"/>
                </a:lnTo>
                <a:lnTo>
                  <a:pt x="65645" y="371549"/>
                </a:lnTo>
                <a:lnTo>
                  <a:pt x="0" y="232687"/>
                </a:lnTo>
                <a:lnTo>
                  <a:pt x="15630" y="200786"/>
                </a:lnTo>
                <a:lnTo>
                  <a:pt x="207877" y="90072"/>
                </a:lnTo>
                <a:lnTo>
                  <a:pt x="206314" y="112590"/>
                </a:lnTo>
                <a:lnTo>
                  <a:pt x="236010" y="97578"/>
                </a:lnTo>
                <a:lnTo>
                  <a:pt x="212566" y="88196"/>
                </a:lnTo>
                <a:lnTo>
                  <a:pt x="346982" y="0"/>
                </a:lnTo>
                <a:lnTo>
                  <a:pt x="439198" y="750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11461" y="2495946"/>
            <a:ext cx="1397307" cy="1459923"/>
          </a:xfrm>
          <a:custGeom>
            <a:avLst/>
            <a:gdLst/>
            <a:ahLst/>
            <a:cxnLst/>
            <a:rect l="l" t="t" r="r" b="b"/>
            <a:pathLst>
              <a:path w="1397307" h="1459923">
                <a:moveTo>
                  <a:pt x="303219" y="690555"/>
                </a:moveTo>
                <a:lnTo>
                  <a:pt x="220381" y="579841"/>
                </a:lnTo>
                <a:lnTo>
                  <a:pt x="207877" y="465374"/>
                </a:lnTo>
                <a:lnTo>
                  <a:pt x="87527" y="362166"/>
                </a:lnTo>
                <a:lnTo>
                  <a:pt x="15630" y="191404"/>
                </a:lnTo>
                <a:lnTo>
                  <a:pt x="18756" y="148244"/>
                </a:lnTo>
                <a:lnTo>
                  <a:pt x="56267" y="163256"/>
                </a:lnTo>
                <a:lnTo>
                  <a:pt x="56267" y="191404"/>
                </a:lnTo>
                <a:lnTo>
                  <a:pt x="93779" y="161380"/>
                </a:lnTo>
                <a:lnTo>
                  <a:pt x="57830" y="146368"/>
                </a:lnTo>
                <a:lnTo>
                  <a:pt x="78149" y="121973"/>
                </a:lnTo>
                <a:lnTo>
                  <a:pt x="0" y="63801"/>
                </a:lnTo>
                <a:lnTo>
                  <a:pt x="56267" y="0"/>
                </a:lnTo>
                <a:lnTo>
                  <a:pt x="151609" y="73184"/>
                </a:lnTo>
                <a:lnTo>
                  <a:pt x="187558" y="50666"/>
                </a:lnTo>
                <a:lnTo>
                  <a:pt x="250077" y="75060"/>
                </a:lnTo>
                <a:lnTo>
                  <a:pt x="242262" y="91949"/>
                </a:lnTo>
                <a:lnTo>
                  <a:pt x="306345" y="144491"/>
                </a:lnTo>
                <a:lnTo>
                  <a:pt x="340730" y="95702"/>
                </a:lnTo>
                <a:lnTo>
                  <a:pt x="417317" y="136985"/>
                </a:lnTo>
                <a:lnTo>
                  <a:pt x="447013" y="48789"/>
                </a:lnTo>
                <a:lnTo>
                  <a:pt x="462643" y="106961"/>
                </a:lnTo>
                <a:lnTo>
                  <a:pt x="497029" y="101331"/>
                </a:lnTo>
                <a:lnTo>
                  <a:pt x="515784" y="91949"/>
                </a:lnTo>
                <a:lnTo>
                  <a:pt x="500155" y="61925"/>
                </a:lnTo>
                <a:lnTo>
                  <a:pt x="515784" y="46913"/>
                </a:lnTo>
                <a:lnTo>
                  <a:pt x="592371" y="106961"/>
                </a:lnTo>
                <a:lnTo>
                  <a:pt x="715846" y="131356"/>
                </a:lnTo>
                <a:lnTo>
                  <a:pt x="850263" y="204539"/>
                </a:lnTo>
                <a:lnTo>
                  <a:pt x="929975" y="326512"/>
                </a:lnTo>
                <a:lnTo>
                  <a:pt x="987805" y="313377"/>
                </a:lnTo>
                <a:lnTo>
                  <a:pt x="1115970" y="499151"/>
                </a:lnTo>
                <a:lnTo>
                  <a:pt x="1145667" y="497275"/>
                </a:lnTo>
                <a:lnTo>
                  <a:pt x="1209749" y="561076"/>
                </a:lnTo>
                <a:lnTo>
                  <a:pt x="1301965" y="746850"/>
                </a:lnTo>
                <a:lnTo>
                  <a:pt x="1270705" y="870700"/>
                </a:lnTo>
                <a:lnTo>
                  <a:pt x="1351980" y="866947"/>
                </a:lnTo>
                <a:lnTo>
                  <a:pt x="1337914" y="913859"/>
                </a:lnTo>
                <a:lnTo>
                  <a:pt x="1397307" y="990796"/>
                </a:lnTo>
                <a:lnTo>
                  <a:pt x="1395744" y="1033956"/>
                </a:lnTo>
                <a:lnTo>
                  <a:pt x="1341040" y="1063980"/>
                </a:lnTo>
                <a:lnTo>
                  <a:pt x="1298839" y="1131534"/>
                </a:lnTo>
                <a:lnTo>
                  <a:pt x="1253513" y="1150299"/>
                </a:lnTo>
                <a:lnTo>
                  <a:pt x="1209749" y="1127781"/>
                </a:lnTo>
                <a:lnTo>
                  <a:pt x="1173800" y="1045215"/>
                </a:lnTo>
                <a:lnTo>
                  <a:pt x="1097214" y="947636"/>
                </a:lnTo>
                <a:lnTo>
                  <a:pt x="1076895" y="938254"/>
                </a:lnTo>
                <a:lnTo>
                  <a:pt x="1009687" y="983290"/>
                </a:lnTo>
                <a:lnTo>
                  <a:pt x="1134726" y="1120275"/>
                </a:lnTo>
                <a:lnTo>
                  <a:pt x="1172237" y="1199089"/>
                </a:lnTo>
                <a:lnTo>
                  <a:pt x="1131600" y="1234742"/>
                </a:lnTo>
                <a:lnTo>
                  <a:pt x="1173800" y="1304173"/>
                </a:lnTo>
                <a:lnTo>
                  <a:pt x="1136289" y="1341703"/>
                </a:lnTo>
                <a:lnTo>
                  <a:pt x="1123785" y="1405504"/>
                </a:lnTo>
                <a:lnTo>
                  <a:pt x="1139415" y="1420516"/>
                </a:lnTo>
                <a:lnTo>
                  <a:pt x="1112844" y="1444911"/>
                </a:lnTo>
                <a:lnTo>
                  <a:pt x="1092525" y="1424269"/>
                </a:lnTo>
                <a:lnTo>
                  <a:pt x="1053451" y="1459923"/>
                </a:lnTo>
                <a:lnTo>
                  <a:pt x="697091" y="964525"/>
                </a:lnTo>
                <a:lnTo>
                  <a:pt x="615815" y="898847"/>
                </a:lnTo>
                <a:lnTo>
                  <a:pt x="582993" y="915736"/>
                </a:lnTo>
                <a:lnTo>
                  <a:pt x="434509" y="741221"/>
                </a:lnTo>
                <a:lnTo>
                  <a:pt x="303219" y="69055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94083" y="2567254"/>
            <a:ext cx="920597" cy="972031"/>
          </a:xfrm>
          <a:custGeom>
            <a:avLst/>
            <a:gdLst/>
            <a:ahLst/>
            <a:cxnLst/>
            <a:rect l="l" t="t" r="r" b="b"/>
            <a:pathLst>
              <a:path w="920597" h="972031">
                <a:moveTo>
                  <a:pt x="289152" y="643642"/>
                </a:moveTo>
                <a:lnTo>
                  <a:pt x="234447" y="553570"/>
                </a:lnTo>
                <a:lnTo>
                  <a:pt x="139106" y="529175"/>
                </a:lnTo>
                <a:lnTo>
                  <a:pt x="0" y="247699"/>
                </a:lnTo>
                <a:lnTo>
                  <a:pt x="10941" y="243946"/>
                </a:lnTo>
                <a:lnTo>
                  <a:pt x="6252" y="230810"/>
                </a:lnTo>
                <a:lnTo>
                  <a:pt x="18756" y="225181"/>
                </a:lnTo>
                <a:lnTo>
                  <a:pt x="14067" y="245823"/>
                </a:lnTo>
                <a:lnTo>
                  <a:pt x="45327" y="243946"/>
                </a:lnTo>
                <a:lnTo>
                  <a:pt x="60956" y="204539"/>
                </a:lnTo>
                <a:lnTo>
                  <a:pt x="84401" y="227057"/>
                </a:lnTo>
                <a:lnTo>
                  <a:pt x="106283" y="215798"/>
                </a:lnTo>
                <a:lnTo>
                  <a:pt x="132854" y="195157"/>
                </a:lnTo>
                <a:lnTo>
                  <a:pt x="121913" y="180145"/>
                </a:lnTo>
                <a:lnTo>
                  <a:pt x="92216" y="197033"/>
                </a:lnTo>
                <a:lnTo>
                  <a:pt x="165676" y="153874"/>
                </a:lnTo>
                <a:lnTo>
                  <a:pt x="245388" y="168886"/>
                </a:lnTo>
                <a:lnTo>
                  <a:pt x="267270" y="88196"/>
                </a:lnTo>
                <a:lnTo>
                  <a:pt x="328226" y="95702"/>
                </a:lnTo>
                <a:lnTo>
                  <a:pt x="331352" y="71307"/>
                </a:lnTo>
                <a:lnTo>
                  <a:pt x="325101" y="123850"/>
                </a:lnTo>
                <a:lnTo>
                  <a:pt x="387620" y="133232"/>
                </a:lnTo>
                <a:lnTo>
                  <a:pt x="392309" y="204539"/>
                </a:lnTo>
                <a:lnTo>
                  <a:pt x="414191" y="208292"/>
                </a:lnTo>
                <a:lnTo>
                  <a:pt x="417317" y="245823"/>
                </a:lnTo>
                <a:lnTo>
                  <a:pt x="350108" y="238316"/>
                </a:lnTo>
                <a:lnTo>
                  <a:pt x="357923" y="258958"/>
                </a:lnTo>
                <a:lnTo>
                  <a:pt x="382931" y="300241"/>
                </a:lnTo>
                <a:lnTo>
                  <a:pt x="423568" y="288982"/>
                </a:lnTo>
                <a:lnTo>
                  <a:pt x="428257" y="257082"/>
                </a:lnTo>
                <a:lnTo>
                  <a:pt x="456391" y="292735"/>
                </a:lnTo>
                <a:lnTo>
                  <a:pt x="490777" y="275847"/>
                </a:lnTo>
                <a:lnTo>
                  <a:pt x="473584" y="242070"/>
                </a:lnTo>
                <a:lnTo>
                  <a:pt x="489214" y="234563"/>
                </a:lnTo>
                <a:lnTo>
                  <a:pt x="506407" y="270217"/>
                </a:lnTo>
                <a:lnTo>
                  <a:pt x="573615" y="234563"/>
                </a:lnTo>
                <a:lnTo>
                  <a:pt x="545481" y="180145"/>
                </a:lnTo>
                <a:lnTo>
                  <a:pt x="492340" y="208292"/>
                </a:lnTo>
                <a:lnTo>
                  <a:pt x="439198" y="182021"/>
                </a:lnTo>
                <a:lnTo>
                  <a:pt x="497029" y="151997"/>
                </a:lnTo>
                <a:lnTo>
                  <a:pt x="440761" y="43160"/>
                </a:lnTo>
                <a:lnTo>
                  <a:pt x="523599" y="0"/>
                </a:lnTo>
                <a:lnTo>
                  <a:pt x="593934" y="140738"/>
                </a:lnTo>
                <a:lnTo>
                  <a:pt x="633008" y="120097"/>
                </a:lnTo>
                <a:lnTo>
                  <a:pt x="708031" y="294612"/>
                </a:lnTo>
                <a:lnTo>
                  <a:pt x="825255" y="394067"/>
                </a:lnTo>
                <a:lnTo>
                  <a:pt x="837759" y="508534"/>
                </a:lnTo>
                <a:lnTo>
                  <a:pt x="920597" y="619248"/>
                </a:lnTo>
                <a:lnTo>
                  <a:pt x="831507" y="643642"/>
                </a:lnTo>
                <a:lnTo>
                  <a:pt x="845574" y="662407"/>
                </a:lnTo>
                <a:lnTo>
                  <a:pt x="723661" y="698061"/>
                </a:lnTo>
                <a:lnTo>
                  <a:pt x="654890" y="746850"/>
                </a:lnTo>
                <a:lnTo>
                  <a:pt x="647075" y="780627"/>
                </a:lnTo>
                <a:lnTo>
                  <a:pt x="665831" y="820034"/>
                </a:lnTo>
                <a:lnTo>
                  <a:pt x="622067" y="844429"/>
                </a:lnTo>
                <a:lnTo>
                  <a:pt x="634571" y="896971"/>
                </a:lnTo>
                <a:lnTo>
                  <a:pt x="595497" y="919489"/>
                </a:lnTo>
                <a:lnTo>
                  <a:pt x="609563" y="968278"/>
                </a:lnTo>
                <a:lnTo>
                  <a:pt x="584556" y="972031"/>
                </a:lnTo>
                <a:lnTo>
                  <a:pt x="543918" y="970155"/>
                </a:lnTo>
                <a:lnTo>
                  <a:pt x="454828" y="913859"/>
                </a:lnTo>
                <a:lnTo>
                  <a:pt x="398561" y="913859"/>
                </a:lnTo>
                <a:lnTo>
                  <a:pt x="371990" y="881959"/>
                </a:lnTo>
                <a:lnTo>
                  <a:pt x="315723" y="887588"/>
                </a:lnTo>
                <a:lnTo>
                  <a:pt x="289152" y="64364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30062" y="3186501"/>
            <a:ext cx="1359795" cy="1351086"/>
          </a:xfrm>
          <a:custGeom>
            <a:avLst/>
            <a:gdLst/>
            <a:ahLst/>
            <a:cxnLst/>
            <a:rect l="l" t="t" r="r" b="b"/>
            <a:pathLst>
              <a:path w="1359795" h="1351086">
                <a:moveTo>
                  <a:pt x="0" y="1227236"/>
                </a:moveTo>
                <a:lnTo>
                  <a:pt x="3126" y="1109016"/>
                </a:lnTo>
                <a:lnTo>
                  <a:pt x="157861" y="1146546"/>
                </a:lnTo>
                <a:lnTo>
                  <a:pt x="185995" y="1030203"/>
                </a:lnTo>
                <a:lnTo>
                  <a:pt x="220381" y="1015191"/>
                </a:lnTo>
                <a:lnTo>
                  <a:pt x="298530" y="906353"/>
                </a:lnTo>
                <a:lnTo>
                  <a:pt x="304782" y="774998"/>
                </a:lnTo>
                <a:lnTo>
                  <a:pt x="331352" y="718702"/>
                </a:lnTo>
                <a:lnTo>
                  <a:pt x="357923" y="684925"/>
                </a:lnTo>
                <a:lnTo>
                  <a:pt x="409502" y="707443"/>
                </a:lnTo>
                <a:lnTo>
                  <a:pt x="376679" y="626754"/>
                </a:lnTo>
                <a:lnTo>
                  <a:pt x="393872" y="568582"/>
                </a:lnTo>
                <a:lnTo>
                  <a:pt x="346982" y="395943"/>
                </a:lnTo>
                <a:lnTo>
                  <a:pt x="353234" y="319006"/>
                </a:lnTo>
                <a:lnTo>
                  <a:pt x="407939" y="350907"/>
                </a:lnTo>
                <a:lnTo>
                  <a:pt x="473584" y="349030"/>
                </a:lnTo>
                <a:lnTo>
                  <a:pt x="457954" y="302118"/>
                </a:lnTo>
                <a:lnTo>
                  <a:pt x="498592" y="277723"/>
                </a:lnTo>
                <a:lnTo>
                  <a:pt x="486088" y="225181"/>
                </a:lnTo>
                <a:lnTo>
                  <a:pt x="529851" y="200786"/>
                </a:lnTo>
                <a:lnTo>
                  <a:pt x="512658" y="135109"/>
                </a:lnTo>
                <a:lnTo>
                  <a:pt x="582993" y="80690"/>
                </a:lnTo>
                <a:lnTo>
                  <a:pt x="784618" y="0"/>
                </a:lnTo>
                <a:lnTo>
                  <a:pt x="915908" y="50666"/>
                </a:lnTo>
                <a:lnTo>
                  <a:pt x="1064392" y="225181"/>
                </a:lnTo>
                <a:lnTo>
                  <a:pt x="1098777" y="208292"/>
                </a:lnTo>
                <a:lnTo>
                  <a:pt x="1183178" y="279600"/>
                </a:lnTo>
                <a:lnTo>
                  <a:pt x="1359795" y="525422"/>
                </a:lnTo>
                <a:lnTo>
                  <a:pt x="1320721" y="519793"/>
                </a:lnTo>
                <a:lnTo>
                  <a:pt x="1308217" y="555446"/>
                </a:lnTo>
                <a:lnTo>
                  <a:pt x="1264453" y="546064"/>
                </a:lnTo>
                <a:lnTo>
                  <a:pt x="1228505" y="576088"/>
                </a:lnTo>
                <a:lnTo>
                  <a:pt x="1203497" y="566705"/>
                </a:lnTo>
                <a:lnTo>
                  <a:pt x="1206623" y="606112"/>
                </a:lnTo>
                <a:lnTo>
                  <a:pt x="1162860" y="636136"/>
                </a:lnTo>
                <a:lnTo>
                  <a:pt x="1175363" y="681172"/>
                </a:lnTo>
                <a:lnTo>
                  <a:pt x="1158171" y="696184"/>
                </a:lnTo>
                <a:lnTo>
                  <a:pt x="1214438" y="827540"/>
                </a:lnTo>
                <a:lnTo>
                  <a:pt x="1173800" y="872576"/>
                </a:lnTo>
                <a:lnTo>
                  <a:pt x="1148793" y="866947"/>
                </a:lnTo>
                <a:lnTo>
                  <a:pt x="1103466" y="898847"/>
                </a:lnTo>
                <a:lnTo>
                  <a:pt x="1128474" y="973908"/>
                </a:lnTo>
                <a:lnTo>
                  <a:pt x="1075332" y="1011438"/>
                </a:lnTo>
                <a:lnTo>
                  <a:pt x="1053451" y="987043"/>
                </a:lnTo>
                <a:lnTo>
                  <a:pt x="987805" y="1015191"/>
                </a:lnTo>
                <a:lnTo>
                  <a:pt x="967487" y="987043"/>
                </a:lnTo>
                <a:lnTo>
                  <a:pt x="981553" y="953266"/>
                </a:lnTo>
                <a:lnTo>
                  <a:pt x="962798" y="870700"/>
                </a:lnTo>
                <a:lnTo>
                  <a:pt x="936227" y="878206"/>
                </a:lnTo>
                <a:lnTo>
                  <a:pt x="922160" y="906353"/>
                </a:lnTo>
                <a:lnTo>
                  <a:pt x="861204" y="925118"/>
                </a:lnTo>
                <a:lnTo>
                  <a:pt x="806499" y="1000179"/>
                </a:lnTo>
                <a:lnTo>
                  <a:pt x="740854" y="979537"/>
                </a:lnTo>
                <a:lnTo>
                  <a:pt x="712720" y="1022697"/>
                </a:lnTo>
                <a:lnTo>
                  <a:pt x="643949" y="1048968"/>
                </a:lnTo>
                <a:lnTo>
                  <a:pt x="603312" y="1097757"/>
                </a:lnTo>
                <a:lnTo>
                  <a:pt x="609563" y="1182200"/>
                </a:lnTo>
                <a:lnTo>
                  <a:pt x="567363" y="1187829"/>
                </a:lnTo>
                <a:lnTo>
                  <a:pt x="548607" y="1215977"/>
                </a:lnTo>
                <a:lnTo>
                  <a:pt x="514221" y="1197212"/>
                </a:lnTo>
                <a:lnTo>
                  <a:pt x="484525" y="1306049"/>
                </a:lnTo>
                <a:lnTo>
                  <a:pt x="453265" y="1324815"/>
                </a:lnTo>
                <a:lnTo>
                  <a:pt x="404813" y="1279778"/>
                </a:lnTo>
                <a:lnTo>
                  <a:pt x="373553" y="1309802"/>
                </a:lnTo>
                <a:lnTo>
                  <a:pt x="264144" y="1337950"/>
                </a:lnTo>
                <a:lnTo>
                  <a:pt x="245388" y="1307926"/>
                </a:lnTo>
                <a:lnTo>
                  <a:pt x="187558" y="1287284"/>
                </a:lnTo>
                <a:lnTo>
                  <a:pt x="93779" y="1351086"/>
                </a:lnTo>
                <a:lnTo>
                  <a:pt x="0" y="122723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65918" y="3096429"/>
            <a:ext cx="673646" cy="1236619"/>
          </a:xfrm>
          <a:custGeom>
            <a:avLst/>
            <a:gdLst/>
            <a:ahLst/>
            <a:cxnLst/>
            <a:rect l="l" t="t" r="r" b="b"/>
            <a:pathLst>
              <a:path w="673646" h="1236619">
                <a:moveTo>
                  <a:pt x="0" y="606112"/>
                </a:moveTo>
                <a:lnTo>
                  <a:pt x="43764" y="484139"/>
                </a:lnTo>
                <a:lnTo>
                  <a:pt x="84401" y="478509"/>
                </a:lnTo>
                <a:lnTo>
                  <a:pt x="110972" y="444732"/>
                </a:lnTo>
                <a:lnTo>
                  <a:pt x="134417" y="326512"/>
                </a:lnTo>
                <a:lnTo>
                  <a:pt x="100031" y="322759"/>
                </a:lnTo>
                <a:lnTo>
                  <a:pt x="159424" y="123850"/>
                </a:lnTo>
                <a:lnTo>
                  <a:pt x="223507" y="120097"/>
                </a:lnTo>
                <a:lnTo>
                  <a:pt x="267270" y="0"/>
                </a:lnTo>
                <a:lnTo>
                  <a:pt x="340730" y="11259"/>
                </a:lnTo>
                <a:lnTo>
                  <a:pt x="386057" y="45036"/>
                </a:lnTo>
                <a:lnTo>
                  <a:pt x="423568" y="127603"/>
                </a:lnTo>
                <a:lnTo>
                  <a:pt x="443887" y="358413"/>
                </a:lnTo>
                <a:lnTo>
                  <a:pt x="500155" y="352783"/>
                </a:lnTo>
                <a:lnTo>
                  <a:pt x="526725" y="384684"/>
                </a:lnTo>
                <a:lnTo>
                  <a:pt x="617378" y="409079"/>
                </a:lnTo>
                <a:lnTo>
                  <a:pt x="611126" y="486016"/>
                </a:lnTo>
                <a:lnTo>
                  <a:pt x="658016" y="658654"/>
                </a:lnTo>
                <a:lnTo>
                  <a:pt x="640823" y="716826"/>
                </a:lnTo>
                <a:lnTo>
                  <a:pt x="673646" y="797516"/>
                </a:lnTo>
                <a:lnTo>
                  <a:pt x="622067" y="774998"/>
                </a:lnTo>
                <a:lnTo>
                  <a:pt x="595497" y="808775"/>
                </a:lnTo>
                <a:lnTo>
                  <a:pt x="568926" y="865070"/>
                </a:lnTo>
                <a:lnTo>
                  <a:pt x="562674" y="996426"/>
                </a:lnTo>
                <a:lnTo>
                  <a:pt x="484525" y="1105263"/>
                </a:lnTo>
                <a:lnTo>
                  <a:pt x="450139" y="1120275"/>
                </a:lnTo>
                <a:lnTo>
                  <a:pt x="422005" y="1236619"/>
                </a:lnTo>
                <a:lnTo>
                  <a:pt x="314160" y="1219730"/>
                </a:lnTo>
                <a:lnTo>
                  <a:pt x="267270" y="1199089"/>
                </a:lnTo>
                <a:lnTo>
                  <a:pt x="289152" y="1159682"/>
                </a:lnTo>
                <a:lnTo>
                  <a:pt x="284463" y="1103387"/>
                </a:lnTo>
                <a:lnTo>
                  <a:pt x="246951" y="1056474"/>
                </a:lnTo>
                <a:lnTo>
                  <a:pt x="250077" y="917612"/>
                </a:lnTo>
                <a:lnTo>
                  <a:pt x="181306" y="885712"/>
                </a:lnTo>
                <a:lnTo>
                  <a:pt x="184432" y="859441"/>
                </a:lnTo>
                <a:lnTo>
                  <a:pt x="151609" y="838799"/>
                </a:lnTo>
                <a:lnTo>
                  <a:pt x="176617" y="829416"/>
                </a:lnTo>
                <a:lnTo>
                  <a:pt x="134417" y="788133"/>
                </a:lnTo>
                <a:lnTo>
                  <a:pt x="123476" y="722456"/>
                </a:lnTo>
                <a:lnTo>
                  <a:pt x="84401" y="729962"/>
                </a:lnTo>
                <a:lnTo>
                  <a:pt x="9378" y="692431"/>
                </a:lnTo>
                <a:lnTo>
                  <a:pt x="21882" y="636136"/>
                </a:lnTo>
                <a:lnTo>
                  <a:pt x="0" y="6061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70236" y="2814953"/>
            <a:ext cx="2072516" cy="3220087"/>
          </a:xfrm>
          <a:custGeom>
            <a:avLst/>
            <a:gdLst/>
            <a:ahLst/>
            <a:cxnLst/>
            <a:rect l="l" t="t" r="r" b="b"/>
            <a:pathLst>
              <a:path w="2072516" h="3220087">
                <a:moveTo>
                  <a:pt x="4689" y="2199267"/>
                </a:moveTo>
                <a:lnTo>
                  <a:pt x="26571" y="2129836"/>
                </a:lnTo>
                <a:lnTo>
                  <a:pt x="14067" y="2034134"/>
                </a:lnTo>
                <a:lnTo>
                  <a:pt x="65645" y="2011616"/>
                </a:lnTo>
                <a:lnTo>
                  <a:pt x="0" y="1900902"/>
                </a:lnTo>
                <a:lnTo>
                  <a:pt x="95342" y="1782682"/>
                </a:lnTo>
                <a:lnTo>
                  <a:pt x="120350" y="1686981"/>
                </a:lnTo>
                <a:lnTo>
                  <a:pt x="215692" y="1679475"/>
                </a:lnTo>
                <a:lnTo>
                  <a:pt x="195373" y="1580020"/>
                </a:lnTo>
                <a:lnTo>
                  <a:pt x="271959" y="1643821"/>
                </a:lnTo>
                <a:lnTo>
                  <a:pt x="289152" y="1583773"/>
                </a:lnTo>
                <a:lnTo>
                  <a:pt x="331352" y="1578143"/>
                </a:lnTo>
                <a:lnTo>
                  <a:pt x="343856" y="1662586"/>
                </a:lnTo>
                <a:lnTo>
                  <a:pt x="429820" y="1718881"/>
                </a:lnTo>
                <a:lnTo>
                  <a:pt x="572052" y="1707622"/>
                </a:lnTo>
                <a:lnTo>
                  <a:pt x="650201" y="1679475"/>
                </a:lnTo>
                <a:lnTo>
                  <a:pt x="640823" y="1595032"/>
                </a:lnTo>
                <a:lnTo>
                  <a:pt x="678335" y="1523724"/>
                </a:lnTo>
                <a:lnTo>
                  <a:pt x="725224" y="1527477"/>
                </a:lnTo>
                <a:lnTo>
                  <a:pt x="800247" y="1465553"/>
                </a:lnTo>
                <a:lnTo>
                  <a:pt x="779929" y="1439282"/>
                </a:lnTo>
                <a:lnTo>
                  <a:pt x="800247" y="1418640"/>
                </a:lnTo>
                <a:lnTo>
                  <a:pt x="784618" y="1367974"/>
                </a:lnTo>
                <a:lnTo>
                  <a:pt x="786181" y="1146546"/>
                </a:lnTo>
                <a:lnTo>
                  <a:pt x="817440" y="1065856"/>
                </a:lnTo>
                <a:lnTo>
                  <a:pt x="808062" y="910106"/>
                </a:lnTo>
                <a:lnTo>
                  <a:pt x="876834" y="394067"/>
                </a:lnTo>
                <a:lnTo>
                  <a:pt x="1042510" y="288982"/>
                </a:lnTo>
                <a:lnTo>
                  <a:pt x="1112844" y="187651"/>
                </a:lnTo>
                <a:lnTo>
                  <a:pt x="1115970" y="16889"/>
                </a:lnTo>
                <a:lnTo>
                  <a:pt x="1162860" y="28148"/>
                </a:lnTo>
                <a:lnTo>
                  <a:pt x="1165985" y="9383"/>
                </a:lnTo>
                <a:lnTo>
                  <a:pt x="1184741" y="9383"/>
                </a:lnTo>
                <a:lnTo>
                  <a:pt x="1162860" y="28148"/>
                </a:lnTo>
                <a:lnTo>
                  <a:pt x="1212875" y="31901"/>
                </a:lnTo>
                <a:lnTo>
                  <a:pt x="1323847" y="0"/>
                </a:lnTo>
                <a:lnTo>
                  <a:pt x="1464515" y="288982"/>
                </a:lnTo>
                <a:lnTo>
                  <a:pt x="1419189" y="401573"/>
                </a:lnTo>
                <a:lnTo>
                  <a:pt x="1355106" y="405326"/>
                </a:lnTo>
                <a:lnTo>
                  <a:pt x="1295713" y="604236"/>
                </a:lnTo>
                <a:lnTo>
                  <a:pt x="1330099" y="607989"/>
                </a:lnTo>
                <a:lnTo>
                  <a:pt x="1312906" y="709320"/>
                </a:lnTo>
                <a:lnTo>
                  <a:pt x="1280083" y="759986"/>
                </a:lnTo>
                <a:lnTo>
                  <a:pt x="1239446" y="765615"/>
                </a:lnTo>
                <a:lnTo>
                  <a:pt x="1192556" y="893218"/>
                </a:lnTo>
                <a:lnTo>
                  <a:pt x="1217564" y="917612"/>
                </a:lnTo>
                <a:lnTo>
                  <a:pt x="1198808" y="953266"/>
                </a:lnTo>
                <a:lnTo>
                  <a:pt x="1223816" y="994549"/>
                </a:lnTo>
                <a:lnTo>
                  <a:pt x="1319158" y="1003932"/>
                </a:lnTo>
                <a:lnTo>
                  <a:pt x="1330099" y="1069609"/>
                </a:lnTo>
                <a:lnTo>
                  <a:pt x="1372299" y="1110893"/>
                </a:lnTo>
                <a:lnTo>
                  <a:pt x="1347292" y="1120275"/>
                </a:lnTo>
                <a:lnTo>
                  <a:pt x="1380114" y="1140917"/>
                </a:lnTo>
                <a:lnTo>
                  <a:pt x="1376988" y="1167188"/>
                </a:lnTo>
                <a:lnTo>
                  <a:pt x="1445759" y="1199089"/>
                </a:lnTo>
                <a:lnTo>
                  <a:pt x="1442634" y="1337950"/>
                </a:lnTo>
                <a:lnTo>
                  <a:pt x="1480145" y="1384863"/>
                </a:lnTo>
                <a:lnTo>
                  <a:pt x="1484834" y="1441158"/>
                </a:lnTo>
                <a:lnTo>
                  <a:pt x="1461389" y="1486194"/>
                </a:lnTo>
                <a:lnTo>
                  <a:pt x="1470767" y="1559378"/>
                </a:lnTo>
                <a:lnTo>
                  <a:pt x="1452011" y="1587526"/>
                </a:lnTo>
                <a:lnTo>
                  <a:pt x="1677081" y="1884014"/>
                </a:lnTo>
                <a:lnTo>
                  <a:pt x="1669266" y="1940309"/>
                </a:lnTo>
                <a:lnTo>
                  <a:pt x="1708341" y="2022875"/>
                </a:lnTo>
                <a:lnTo>
                  <a:pt x="1720845" y="2112948"/>
                </a:lnTo>
                <a:lnTo>
                  <a:pt x="1711467" y="2180502"/>
                </a:lnTo>
                <a:lnTo>
                  <a:pt x="1817749" y="2448843"/>
                </a:lnTo>
                <a:lnTo>
                  <a:pt x="1781801" y="2523903"/>
                </a:lnTo>
                <a:lnTo>
                  <a:pt x="1813061" y="2657135"/>
                </a:lnTo>
                <a:lnTo>
                  <a:pt x="1986552" y="2764096"/>
                </a:lnTo>
                <a:lnTo>
                  <a:pt x="1999056" y="2876686"/>
                </a:lnTo>
                <a:lnTo>
                  <a:pt x="2039693" y="2878563"/>
                </a:lnTo>
                <a:lnTo>
                  <a:pt x="2072516" y="2927352"/>
                </a:lnTo>
                <a:lnTo>
                  <a:pt x="2050634" y="2994906"/>
                </a:lnTo>
                <a:lnTo>
                  <a:pt x="1941225" y="2932982"/>
                </a:lnTo>
                <a:lnTo>
                  <a:pt x="1944351" y="3039943"/>
                </a:lnTo>
                <a:lnTo>
                  <a:pt x="1969359" y="3073720"/>
                </a:lnTo>
                <a:lnTo>
                  <a:pt x="1939662" y="3088732"/>
                </a:lnTo>
                <a:lnTo>
                  <a:pt x="1966233" y="3115003"/>
                </a:lnTo>
                <a:lnTo>
                  <a:pt x="1938099" y="3184434"/>
                </a:lnTo>
                <a:lnTo>
                  <a:pt x="1838068" y="3199446"/>
                </a:lnTo>
                <a:lnTo>
                  <a:pt x="1798994" y="3160039"/>
                </a:lnTo>
                <a:lnTo>
                  <a:pt x="1663014" y="3220087"/>
                </a:lnTo>
                <a:lnTo>
                  <a:pt x="1638006" y="3145027"/>
                </a:lnTo>
                <a:lnTo>
                  <a:pt x="1544227" y="3068090"/>
                </a:lnTo>
                <a:lnTo>
                  <a:pt x="1516094" y="3008042"/>
                </a:lnTo>
                <a:lnTo>
                  <a:pt x="1489523" y="3051202"/>
                </a:lnTo>
                <a:lnTo>
                  <a:pt x="1431693" y="3034313"/>
                </a:lnTo>
                <a:lnTo>
                  <a:pt x="1355106" y="3060584"/>
                </a:lnTo>
                <a:lnTo>
                  <a:pt x="1326973" y="3041819"/>
                </a:lnTo>
                <a:lnTo>
                  <a:pt x="1312906" y="3066214"/>
                </a:lnTo>
                <a:lnTo>
                  <a:pt x="1150356" y="2844786"/>
                </a:lnTo>
                <a:lnTo>
                  <a:pt x="1009687" y="2842909"/>
                </a:lnTo>
                <a:lnTo>
                  <a:pt x="984679" y="2741578"/>
                </a:lnTo>
                <a:lnTo>
                  <a:pt x="800247" y="2638370"/>
                </a:lnTo>
                <a:lnTo>
                  <a:pt x="753358" y="2587704"/>
                </a:lnTo>
                <a:lnTo>
                  <a:pt x="656453" y="2600840"/>
                </a:lnTo>
                <a:lnTo>
                  <a:pt x="643949" y="2546421"/>
                </a:lnTo>
                <a:lnTo>
                  <a:pt x="612689" y="2523903"/>
                </a:lnTo>
                <a:lnTo>
                  <a:pt x="536103" y="2501385"/>
                </a:lnTo>
                <a:lnTo>
                  <a:pt x="479836" y="2540792"/>
                </a:lnTo>
                <a:lnTo>
                  <a:pt x="392309" y="2508891"/>
                </a:lnTo>
                <a:lnTo>
                  <a:pt x="304782" y="2386918"/>
                </a:lnTo>
                <a:lnTo>
                  <a:pt x="256329" y="2383165"/>
                </a:lnTo>
                <a:lnTo>
                  <a:pt x="106283" y="2261192"/>
                </a:lnTo>
                <a:lnTo>
                  <a:pt x="76586" y="2208650"/>
                </a:lnTo>
                <a:lnTo>
                  <a:pt x="4689" y="219926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13628" y="1484509"/>
            <a:ext cx="2272578" cy="3049325"/>
          </a:xfrm>
          <a:custGeom>
            <a:avLst/>
            <a:gdLst/>
            <a:ahLst/>
            <a:cxnLst/>
            <a:rect l="l" t="t" r="r" b="b"/>
            <a:pathLst>
              <a:path w="2272578" h="3049325">
                <a:moveTo>
                  <a:pt x="334478" y="1630685"/>
                </a:moveTo>
                <a:lnTo>
                  <a:pt x="278211" y="1533107"/>
                </a:lnTo>
                <a:lnTo>
                  <a:pt x="220381" y="1480565"/>
                </a:lnTo>
                <a:lnTo>
                  <a:pt x="217255" y="1426146"/>
                </a:lnTo>
                <a:lnTo>
                  <a:pt x="187558" y="1377357"/>
                </a:lnTo>
                <a:lnTo>
                  <a:pt x="193810" y="1337950"/>
                </a:lnTo>
                <a:lnTo>
                  <a:pt x="148483" y="1324815"/>
                </a:lnTo>
                <a:lnTo>
                  <a:pt x="196936" y="1232866"/>
                </a:lnTo>
                <a:lnTo>
                  <a:pt x="200062" y="1180323"/>
                </a:lnTo>
                <a:lnTo>
                  <a:pt x="184432" y="1137164"/>
                </a:lnTo>
                <a:lnTo>
                  <a:pt x="128165" y="1088375"/>
                </a:lnTo>
                <a:lnTo>
                  <a:pt x="151609" y="1033956"/>
                </a:lnTo>
                <a:lnTo>
                  <a:pt x="110972" y="996426"/>
                </a:lnTo>
                <a:lnTo>
                  <a:pt x="129728" y="990796"/>
                </a:lnTo>
                <a:lnTo>
                  <a:pt x="112535" y="840676"/>
                </a:lnTo>
                <a:lnTo>
                  <a:pt x="139106" y="728085"/>
                </a:lnTo>
                <a:lnTo>
                  <a:pt x="95342" y="671790"/>
                </a:lnTo>
                <a:lnTo>
                  <a:pt x="96905" y="609865"/>
                </a:lnTo>
                <a:lnTo>
                  <a:pt x="78149" y="572335"/>
                </a:lnTo>
                <a:lnTo>
                  <a:pt x="0" y="519793"/>
                </a:lnTo>
                <a:lnTo>
                  <a:pt x="51578" y="469127"/>
                </a:lnTo>
                <a:lnTo>
                  <a:pt x="43764" y="412832"/>
                </a:lnTo>
                <a:lnTo>
                  <a:pt x="101594" y="412832"/>
                </a:lnTo>
                <a:lnTo>
                  <a:pt x="151609" y="369672"/>
                </a:lnTo>
                <a:lnTo>
                  <a:pt x="132854" y="287106"/>
                </a:lnTo>
                <a:lnTo>
                  <a:pt x="160987" y="322759"/>
                </a:lnTo>
                <a:lnTo>
                  <a:pt x="178180" y="262711"/>
                </a:lnTo>
                <a:lnTo>
                  <a:pt x="165676" y="240193"/>
                </a:lnTo>
                <a:lnTo>
                  <a:pt x="156298" y="258958"/>
                </a:lnTo>
                <a:lnTo>
                  <a:pt x="151609" y="266464"/>
                </a:lnTo>
                <a:lnTo>
                  <a:pt x="140668" y="275847"/>
                </a:lnTo>
                <a:lnTo>
                  <a:pt x="164113" y="243946"/>
                </a:lnTo>
                <a:lnTo>
                  <a:pt x="132854" y="67554"/>
                </a:lnTo>
                <a:lnTo>
                  <a:pt x="154735" y="9383"/>
                </a:lnTo>
                <a:lnTo>
                  <a:pt x="192247" y="0"/>
                </a:lnTo>
                <a:lnTo>
                  <a:pt x="371990" y="153874"/>
                </a:lnTo>
                <a:lnTo>
                  <a:pt x="481399" y="195157"/>
                </a:lnTo>
                <a:lnTo>
                  <a:pt x="522036" y="232687"/>
                </a:lnTo>
                <a:lnTo>
                  <a:pt x="545481" y="307747"/>
                </a:lnTo>
                <a:lnTo>
                  <a:pt x="612689" y="343401"/>
                </a:lnTo>
                <a:lnTo>
                  <a:pt x="612689" y="403449"/>
                </a:lnTo>
                <a:lnTo>
                  <a:pt x="568926" y="471003"/>
                </a:lnTo>
                <a:lnTo>
                  <a:pt x="528288" y="512287"/>
                </a:lnTo>
                <a:lnTo>
                  <a:pt x="575178" y="439103"/>
                </a:lnTo>
                <a:lnTo>
                  <a:pt x="526725" y="476633"/>
                </a:lnTo>
                <a:lnTo>
                  <a:pt x="489214" y="476633"/>
                </a:lnTo>
                <a:lnTo>
                  <a:pt x="515784" y="502904"/>
                </a:lnTo>
                <a:lnTo>
                  <a:pt x="481399" y="487892"/>
                </a:lnTo>
                <a:lnTo>
                  <a:pt x="495466" y="499151"/>
                </a:lnTo>
                <a:lnTo>
                  <a:pt x="479836" y="508534"/>
                </a:lnTo>
                <a:lnTo>
                  <a:pt x="489214" y="549817"/>
                </a:lnTo>
                <a:lnTo>
                  <a:pt x="432946" y="566705"/>
                </a:lnTo>
                <a:lnTo>
                  <a:pt x="407939" y="624877"/>
                </a:lnTo>
                <a:lnTo>
                  <a:pt x="468895" y="735591"/>
                </a:lnTo>
                <a:lnTo>
                  <a:pt x="495466" y="737468"/>
                </a:lnTo>
                <a:lnTo>
                  <a:pt x="495466" y="763739"/>
                </a:lnTo>
                <a:lnTo>
                  <a:pt x="536103" y="728085"/>
                </a:lnTo>
                <a:lnTo>
                  <a:pt x="548607" y="756233"/>
                </a:lnTo>
                <a:lnTo>
                  <a:pt x="540792" y="743097"/>
                </a:lnTo>
                <a:lnTo>
                  <a:pt x="495466" y="763739"/>
                </a:lnTo>
                <a:lnTo>
                  <a:pt x="511096" y="759986"/>
                </a:lnTo>
                <a:lnTo>
                  <a:pt x="490777" y="829416"/>
                </a:lnTo>
                <a:lnTo>
                  <a:pt x="542355" y="913859"/>
                </a:lnTo>
                <a:lnTo>
                  <a:pt x="522036" y="925118"/>
                </a:lnTo>
                <a:lnTo>
                  <a:pt x="540792" y="960772"/>
                </a:lnTo>
                <a:lnTo>
                  <a:pt x="768988" y="1048968"/>
                </a:lnTo>
                <a:lnTo>
                  <a:pt x="1004998" y="1063980"/>
                </a:lnTo>
                <a:lnTo>
                  <a:pt x="1087836" y="1020820"/>
                </a:lnTo>
                <a:lnTo>
                  <a:pt x="1181615" y="1048968"/>
                </a:lnTo>
                <a:lnTo>
                  <a:pt x="1208186" y="1082745"/>
                </a:lnTo>
                <a:lnTo>
                  <a:pt x="1189430" y="1131534"/>
                </a:lnTo>
                <a:lnTo>
                  <a:pt x="1211312" y="1199089"/>
                </a:lnTo>
                <a:lnTo>
                  <a:pt x="1186304" y="1206595"/>
                </a:lnTo>
                <a:lnTo>
                  <a:pt x="1140978" y="1339827"/>
                </a:lnTo>
                <a:lnTo>
                  <a:pt x="1101903" y="1336074"/>
                </a:lnTo>
                <a:lnTo>
                  <a:pt x="1087836" y="1388616"/>
                </a:lnTo>
                <a:lnTo>
                  <a:pt x="1097214" y="1330444"/>
                </a:lnTo>
                <a:lnTo>
                  <a:pt x="1065955" y="1317308"/>
                </a:lnTo>
                <a:lnTo>
                  <a:pt x="1062829" y="1343580"/>
                </a:lnTo>
                <a:lnTo>
                  <a:pt x="1061266" y="1341703"/>
                </a:lnTo>
                <a:lnTo>
                  <a:pt x="1017502" y="1215977"/>
                </a:lnTo>
                <a:lnTo>
                  <a:pt x="826818" y="1268519"/>
                </a:lnTo>
                <a:lnTo>
                  <a:pt x="842448" y="1330444"/>
                </a:lnTo>
                <a:lnTo>
                  <a:pt x="972176" y="1441158"/>
                </a:lnTo>
                <a:lnTo>
                  <a:pt x="979990" y="1382986"/>
                </a:lnTo>
                <a:lnTo>
                  <a:pt x="1051888" y="1369851"/>
                </a:lnTo>
                <a:lnTo>
                  <a:pt x="1055014" y="1473059"/>
                </a:lnTo>
                <a:lnTo>
                  <a:pt x="1153482" y="1580020"/>
                </a:lnTo>
                <a:lnTo>
                  <a:pt x="1337914" y="1626932"/>
                </a:lnTo>
                <a:lnTo>
                  <a:pt x="1366047" y="1621303"/>
                </a:lnTo>
                <a:lnTo>
                  <a:pt x="1387929" y="1581896"/>
                </a:lnTo>
                <a:lnTo>
                  <a:pt x="1481708" y="1640068"/>
                </a:lnTo>
                <a:lnTo>
                  <a:pt x="1592680" y="1608167"/>
                </a:lnTo>
                <a:lnTo>
                  <a:pt x="1702089" y="1549995"/>
                </a:lnTo>
                <a:lnTo>
                  <a:pt x="1766171" y="1484318"/>
                </a:lnTo>
                <a:lnTo>
                  <a:pt x="1783364" y="1493700"/>
                </a:lnTo>
                <a:lnTo>
                  <a:pt x="1766171" y="1401751"/>
                </a:lnTo>
                <a:lnTo>
                  <a:pt x="1775549" y="1446788"/>
                </a:lnTo>
                <a:lnTo>
                  <a:pt x="1813061" y="1396122"/>
                </a:lnTo>
                <a:lnTo>
                  <a:pt x="1791179" y="1366098"/>
                </a:lnTo>
                <a:lnTo>
                  <a:pt x="1770860" y="1382986"/>
                </a:lnTo>
                <a:lnTo>
                  <a:pt x="1758356" y="1351086"/>
                </a:lnTo>
                <a:lnTo>
                  <a:pt x="1803683" y="1304173"/>
                </a:lnTo>
                <a:lnTo>
                  <a:pt x="1986552" y="1292914"/>
                </a:lnTo>
                <a:lnTo>
                  <a:pt x="1984989" y="1309802"/>
                </a:lnTo>
                <a:lnTo>
                  <a:pt x="1963107" y="1294790"/>
                </a:lnTo>
                <a:lnTo>
                  <a:pt x="1967796" y="1384863"/>
                </a:lnTo>
                <a:lnTo>
                  <a:pt x="1981863" y="1364221"/>
                </a:lnTo>
                <a:lnTo>
                  <a:pt x="1997493" y="1386739"/>
                </a:lnTo>
                <a:lnTo>
                  <a:pt x="2008433" y="1345456"/>
                </a:lnTo>
                <a:lnTo>
                  <a:pt x="2000619" y="1377357"/>
                </a:lnTo>
                <a:lnTo>
                  <a:pt x="2024063" y="1384863"/>
                </a:lnTo>
                <a:lnTo>
                  <a:pt x="2017811" y="1358592"/>
                </a:lnTo>
                <a:lnTo>
                  <a:pt x="2036567" y="1336074"/>
                </a:lnTo>
                <a:lnTo>
                  <a:pt x="2011559" y="1336074"/>
                </a:lnTo>
                <a:lnTo>
                  <a:pt x="2027189" y="1298543"/>
                </a:lnTo>
                <a:lnTo>
                  <a:pt x="1999056" y="1291037"/>
                </a:lnTo>
                <a:lnTo>
                  <a:pt x="2052197" y="1304173"/>
                </a:lnTo>
                <a:lnTo>
                  <a:pt x="2069390" y="1277902"/>
                </a:lnTo>
                <a:lnTo>
                  <a:pt x="2092835" y="1283531"/>
                </a:lnTo>
                <a:lnTo>
                  <a:pt x="2061575" y="1292914"/>
                </a:lnTo>
                <a:lnTo>
                  <a:pt x="2099086" y="1313555"/>
                </a:lnTo>
                <a:lnTo>
                  <a:pt x="2230377" y="1336074"/>
                </a:lnTo>
                <a:lnTo>
                  <a:pt x="2206932" y="1313555"/>
                </a:lnTo>
                <a:lnTo>
                  <a:pt x="2272578" y="1347333"/>
                </a:lnTo>
                <a:lnTo>
                  <a:pt x="2269452" y="1518095"/>
                </a:lnTo>
                <a:lnTo>
                  <a:pt x="2199117" y="1619426"/>
                </a:lnTo>
                <a:lnTo>
                  <a:pt x="2045945" y="1703869"/>
                </a:lnTo>
                <a:lnTo>
                  <a:pt x="2020937" y="1763917"/>
                </a:lnTo>
                <a:lnTo>
                  <a:pt x="1964670" y="2240550"/>
                </a:lnTo>
                <a:lnTo>
                  <a:pt x="1974048" y="2396300"/>
                </a:lnTo>
                <a:lnTo>
                  <a:pt x="1942788" y="2476990"/>
                </a:lnTo>
                <a:lnTo>
                  <a:pt x="1941225" y="2698418"/>
                </a:lnTo>
                <a:lnTo>
                  <a:pt x="1956855" y="2749084"/>
                </a:lnTo>
                <a:lnTo>
                  <a:pt x="1936536" y="2769726"/>
                </a:lnTo>
                <a:lnTo>
                  <a:pt x="1956855" y="2795997"/>
                </a:lnTo>
                <a:lnTo>
                  <a:pt x="1881832" y="2857921"/>
                </a:lnTo>
                <a:lnTo>
                  <a:pt x="1834942" y="2854168"/>
                </a:lnTo>
                <a:lnTo>
                  <a:pt x="1797431" y="2925476"/>
                </a:lnTo>
                <a:lnTo>
                  <a:pt x="1806809" y="3009919"/>
                </a:lnTo>
                <a:lnTo>
                  <a:pt x="1723970" y="3039943"/>
                </a:lnTo>
                <a:lnTo>
                  <a:pt x="1586428" y="3049325"/>
                </a:lnTo>
                <a:lnTo>
                  <a:pt x="1498901" y="2989277"/>
                </a:lnTo>
                <a:lnTo>
                  <a:pt x="1461389" y="2852292"/>
                </a:lnTo>
                <a:lnTo>
                  <a:pt x="1477019" y="2786614"/>
                </a:lnTo>
                <a:lnTo>
                  <a:pt x="1414500" y="2719060"/>
                </a:lnTo>
                <a:lnTo>
                  <a:pt x="1387929" y="2717183"/>
                </a:lnTo>
                <a:lnTo>
                  <a:pt x="1430130" y="2548298"/>
                </a:lnTo>
                <a:lnTo>
                  <a:pt x="1419189" y="2418819"/>
                </a:lnTo>
                <a:lnTo>
                  <a:pt x="1392618" y="2390671"/>
                </a:lnTo>
                <a:lnTo>
                  <a:pt x="1344166" y="2401930"/>
                </a:lnTo>
                <a:lnTo>
                  <a:pt x="1247261" y="2317487"/>
                </a:lnTo>
                <a:lnTo>
                  <a:pt x="1112844" y="2246180"/>
                </a:lnTo>
                <a:lnTo>
                  <a:pt x="1072206" y="2204897"/>
                </a:lnTo>
                <a:lnTo>
                  <a:pt x="1081584" y="2157984"/>
                </a:lnTo>
                <a:lnTo>
                  <a:pt x="1048762" y="2075418"/>
                </a:lnTo>
                <a:lnTo>
                  <a:pt x="936227" y="2107318"/>
                </a:lnTo>
                <a:lnTo>
                  <a:pt x="890900" y="2058529"/>
                </a:lnTo>
                <a:lnTo>
                  <a:pt x="812751" y="2092306"/>
                </a:lnTo>
                <a:lnTo>
                  <a:pt x="795558" y="2062282"/>
                </a:lnTo>
                <a:lnTo>
                  <a:pt x="740854" y="2060406"/>
                </a:lnTo>
                <a:lnTo>
                  <a:pt x="697091" y="2090430"/>
                </a:lnTo>
                <a:lnTo>
                  <a:pt x="704905" y="2139219"/>
                </a:lnTo>
                <a:lnTo>
                  <a:pt x="676772" y="2171120"/>
                </a:lnTo>
                <a:lnTo>
                  <a:pt x="639260" y="2157984"/>
                </a:lnTo>
                <a:lnTo>
                  <a:pt x="601749" y="2103565"/>
                </a:lnTo>
                <a:lnTo>
                  <a:pt x="595497" y="2058529"/>
                </a:lnTo>
                <a:lnTo>
                  <a:pt x="650201" y="2037887"/>
                </a:lnTo>
                <a:lnTo>
                  <a:pt x="608000" y="1897149"/>
                </a:lnTo>
                <a:lnTo>
                  <a:pt x="648638" y="1878384"/>
                </a:lnTo>
                <a:lnTo>
                  <a:pt x="647075" y="1820213"/>
                </a:lnTo>
                <a:lnTo>
                  <a:pt x="676772" y="1808954"/>
                </a:lnTo>
                <a:lnTo>
                  <a:pt x="664268" y="1775176"/>
                </a:lnTo>
                <a:lnTo>
                  <a:pt x="676772" y="1771423"/>
                </a:lnTo>
                <a:lnTo>
                  <a:pt x="623630" y="1634438"/>
                </a:lnTo>
                <a:lnTo>
                  <a:pt x="573615" y="1613797"/>
                </a:lnTo>
                <a:lnTo>
                  <a:pt x="501718" y="1636315"/>
                </a:lnTo>
                <a:lnTo>
                  <a:pt x="451702" y="1615673"/>
                </a:lnTo>
                <a:lnTo>
                  <a:pt x="387620" y="1653203"/>
                </a:lnTo>
                <a:lnTo>
                  <a:pt x="334478" y="163068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20344" y="2032449"/>
            <a:ext cx="314160" cy="598606"/>
          </a:xfrm>
          <a:custGeom>
            <a:avLst/>
            <a:gdLst/>
            <a:ahLst/>
            <a:cxnLst/>
            <a:rect l="l" t="t" r="r" b="b"/>
            <a:pathLst>
              <a:path w="314160" h="598606">
                <a:moveTo>
                  <a:pt x="90653" y="581717"/>
                </a:moveTo>
                <a:lnTo>
                  <a:pt x="10941" y="476633"/>
                </a:lnTo>
                <a:lnTo>
                  <a:pt x="0" y="399696"/>
                </a:lnTo>
                <a:lnTo>
                  <a:pt x="53141" y="341524"/>
                </a:lnTo>
                <a:lnTo>
                  <a:pt x="79712" y="262711"/>
                </a:lnTo>
                <a:lnTo>
                  <a:pt x="64082" y="50666"/>
                </a:lnTo>
                <a:lnTo>
                  <a:pt x="118787" y="0"/>
                </a:lnTo>
                <a:lnTo>
                  <a:pt x="164113" y="5630"/>
                </a:lnTo>
                <a:lnTo>
                  <a:pt x="212566" y="61925"/>
                </a:lnTo>
                <a:lnTo>
                  <a:pt x="209440" y="157627"/>
                </a:lnTo>
                <a:lnTo>
                  <a:pt x="303219" y="287106"/>
                </a:lnTo>
                <a:lnTo>
                  <a:pt x="314160" y="425967"/>
                </a:lnTo>
                <a:lnTo>
                  <a:pt x="281337" y="440979"/>
                </a:lnTo>
                <a:lnTo>
                  <a:pt x="264144" y="510410"/>
                </a:lnTo>
                <a:lnTo>
                  <a:pt x="262581" y="487892"/>
                </a:lnTo>
                <a:lnTo>
                  <a:pt x="229759" y="499151"/>
                </a:lnTo>
                <a:lnTo>
                  <a:pt x="236010" y="519793"/>
                </a:lnTo>
                <a:lnTo>
                  <a:pt x="254766" y="512287"/>
                </a:lnTo>
                <a:lnTo>
                  <a:pt x="232885" y="521669"/>
                </a:lnTo>
                <a:lnTo>
                  <a:pt x="228196" y="561076"/>
                </a:lnTo>
                <a:lnTo>
                  <a:pt x="159424" y="561076"/>
                </a:lnTo>
                <a:lnTo>
                  <a:pt x="129728" y="581717"/>
                </a:lnTo>
                <a:lnTo>
                  <a:pt x="151609" y="594853"/>
                </a:lnTo>
                <a:lnTo>
                  <a:pt x="143794" y="598606"/>
                </a:lnTo>
                <a:lnTo>
                  <a:pt x="90653" y="58171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4A5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116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10年後、救急車は何回出る？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57200" y="3886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FD7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 救急需要の未来地図 2025→2035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035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FD7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作成 2026-10／公表資料の再計算・市の公式見解ではない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この資料で分かる3つのこと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3576218" cy="3108960"/>
          </a:xfrm>
          <a:prstGeom prst="roundRect">
            <a:avLst>
              <a:gd name="adj" fmla="val 235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何件になる？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2035年の出場件数の見通し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07738" y="1325880"/>
            <a:ext cx="3576218" cy="3108960"/>
          </a:xfrm>
          <a:prstGeom prst="roundRect">
            <a:avLst>
              <a:gd name="adj" fmla="val 235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2058" y="160020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82058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82058" y="269748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誰が増える？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82058" y="3337560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運ばれる人の年代の変化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58277" y="1325880"/>
            <a:ext cx="3576218" cy="3108960"/>
          </a:xfrm>
          <a:prstGeom prst="roundRect">
            <a:avLst>
              <a:gd name="adj" fmla="val 235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32597" y="160020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32597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432597" y="269748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どこが先に詰まる？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432597" y="3337560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区・署所ごとの負担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470916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70916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7091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そして：その数字はどこから？ どれくらい確か？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いま：1日274件、5分に1回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出典：福岡市消防年報 令和6年版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68,299件 → 100,181件（2013→2024、1.47倍）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132588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2024年の出場件数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766560" y="169164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100,181件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6766560" y="297180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搬送 87,291人　市民19人に1人が利用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766560" y="388620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救急隊の数（2013→2024）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766560" y="425196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27 → 34隊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人口は少し増えるだけ。出場はもっと増える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出典：福岡市の将来人口推計（令和6年4月）、本資料の推計（下限シナリオ）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132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863840" y="132588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　2025→2035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863840" y="169164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+2.3%</a:t>
            </a:r>
            <a:endParaRPr lang="en-US" sz="6400" dirty="0"/>
          </a:p>
        </p:txBody>
      </p:sp>
      <p:sp>
        <p:nvSpPr>
          <p:cNvPr id="8" name="Text 4"/>
          <p:cNvSpPr/>
          <p:nvPr/>
        </p:nvSpPr>
        <p:spPr>
          <a:xfrm>
            <a:off x="7863840" y="274320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160.8万人 → 164.5万人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863840" y="342900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出場件数　2025→2035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0" y="37947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+12.0%</a:t>
            </a:r>
            <a:endParaRPr lang="en-US" sz="6400" dirty="0"/>
          </a:p>
        </p:txBody>
      </p:sp>
      <p:sp>
        <p:nvSpPr>
          <p:cNvPr id="11" name="Text 7"/>
          <p:cNvSpPr/>
          <p:nvPr/>
        </p:nvSpPr>
        <p:spPr>
          <a:xfrm>
            <a:off x="7863840" y="484632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100,139件 → 112,124件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なぜ差が出る？ → 答えは年齢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答えの核心：年を取るほど運ばれやすい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出典：福岡市消防年報 R6（年齢区分別搬送人員）、福岡市 登録人口、消防庁 救急・救助の現況（高齢者内の内訳）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046720" y="150876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3B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85歳以上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046720" y="187452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E3B8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3.4人に1人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046720" y="283464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が1年に救急車で運ばれる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046720" y="38862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18–64歳の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046720" y="425196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9.5倍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85歳以上が1.5倍になる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出典：福岡市の将来人口推計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1127729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519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438912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85歳以上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47548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E3B8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6.1→9.3万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85800" y="55321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×1.51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07738" y="42519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36338" y="438912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65歳以上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36338" y="47548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35.9→41.2万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536338" y="55321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22.3% → 25.0%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58277" y="42519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86877" y="438912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増える出場（2025→2035）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386877" y="47548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+12,307件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8386877" y="55321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65歳以上のぶん（全体の増加は +11,985件）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データの出どころ：全部、公開資料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88720" y="1280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福岡市の将来人口推計（令和6年4月）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280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福岡市・令和6年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未来の人口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8872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福岡市消防年報 令和3〜6年版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6072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福岡市消防局・令和3〜6年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96112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区別出場・年齢・隊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88720" y="2560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 登録人口（2013〜24年）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607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福岡市・2024年12月末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96112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いまの人口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20040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④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8872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令和2年国勢調査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6072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総務省統計局・令和2年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96112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昼間人口・1kmメッシュ人口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⑤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8872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消防庁 救急・救助の現況（令和7年版）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6072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消防庁・令和7年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96112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全国の高齢者内訳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7200" y="448056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⑥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88720" y="4480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社人研 令和5年推計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76072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国立社会保障・人口問題研究所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961120" y="4480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2035年以降の区別年齢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57200" y="512064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5120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⑦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118872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面積調・国土数値情報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76072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国土地理院・国土交通省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96112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面積・区界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URLはサイトの方法タブに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計算のしくみ：5ステップ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出典：本資料の推計モデル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66928" y="1874520"/>
            <a:ext cx="1431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いまの人口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（区×年齢）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35581" y="2221992"/>
            <a:ext cx="219456" cy="219456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20440"/>
            <a:ext cx="1650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1650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出発点は公表されている実際の人口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82469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92197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492197" y="1874520"/>
            <a:ext cx="1431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市の推計で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未来の人口に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60850" y="2221992"/>
            <a:ext cx="219456" cy="219456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82469" y="3520440"/>
            <a:ext cx="1650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なぜ？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82469" y="3840480"/>
            <a:ext cx="1650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人口は市の公式推計に合わせる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07738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1746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417466" y="1874520"/>
            <a:ext cx="1431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年齢ごとの「運ばれる割合」を掛ける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86120" y="2221992"/>
            <a:ext cx="219456" cy="219456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07738" y="3520440"/>
            <a:ext cx="1650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なぜ？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307738" y="3840480"/>
            <a:ext cx="1650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85歳以上は18–64歳の約9.5倍運ばれるから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33008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273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342736" y="1874520"/>
            <a:ext cx="1431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昼に来る人のぶんを足す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（昼間補正）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911389" y="2221992"/>
            <a:ext cx="219456" cy="219456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3008" y="3520440"/>
            <a:ext cx="1650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なぜ？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33008" y="3840480"/>
            <a:ext cx="1650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住んでいない人も倒れるから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58277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68005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268005" y="1874520"/>
            <a:ext cx="1431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実際の件数に合わせる倍率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（校正係数）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836658" y="2221992"/>
            <a:ext cx="219456" cy="219456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58277" y="3520440"/>
            <a:ext cx="1650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なぜ？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158277" y="3840480"/>
            <a:ext cx="1650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病院・繁華街など人口で見えない事情をまとめて1つの倍率に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083546" y="1417320"/>
            <a:ext cx="1650949" cy="1828800"/>
          </a:xfrm>
          <a:prstGeom prst="roundRect">
            <a:avLst>
              <a:gd name="adj" fmla="val 44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193274" y="1417320"/>
            <a:ext cx="143149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出場件数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10083546" y="3520440"/>
            <a:ext cx="16509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区ごと・年ごとの見通し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実例：東区でやってみる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出典：本資料の推計モデル（方法タブの実例と同じ数字）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年齢帯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割合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2025年 人口→搬送人員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2035年 人口→搬送人員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0–6歳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0.047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20,029 → 936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20,133 → 941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7–17歳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0.020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34,591 → 678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30,542 → 598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18–64歳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0.031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202,001 → 6,300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204,958 → 6,393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65–74歳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0.071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33,958 → 2,400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36,874 → 2,607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75–84歳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0.143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27,433 → 3,919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27,830 → 3,975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E3B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85歳以上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0.296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E3B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12,417 → 3,674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E3B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19,021 → 5,627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搬送人員の合計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17,906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20,141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昼間補正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−119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−119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×出場/搬送比 1.148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×校正係数 0.888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出場件数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18,131件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20,409件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03920" y="132588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2035年の東区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503920" y="1737360"/>
            <a:ext cx="3230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+12.6%</a:t>
            </a:r>
            <a:endParaRPr lang="en-US" sz="6400" dirty="0"/>
          </a:p>
        </p:txBody>
      </p:sp>
      <p:sp>
        <p:nvSpPr>
          <p:cNvPr id="8" name="Text 4"/>
          <p:cNvSpPr/>
          <p:nvPr/>
        </p:nvSpPr>
        <p:spPr>
          <a:xfrm>
            <a:off x="8503920" y="2971800"/>
            <a:ext cx="3230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3B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増加分の中心は85歳以上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8E3B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（搬送人員の増加 2,234人のうち 1,954人）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借りた値と、その理由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出典：消防庁、総務省 人口推計、社人研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576218" cy="3749040"/>
          </a:xfrm>
          <a:prstGeom prst="roundRect">
            <a:avLst>
              <a:gd name="adj" fmla="val 20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087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高齢者の中の比率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1:2.0:4.2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65–74／75–84／85歳以上は全国値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← 福岡の年報は65歳以上が一括だから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07738" y="1325880"/>
            <a:ext cx="3576218" cy="3749040"/>
          </a:xfrm>
          <a:prstGeom prst="roundRect">
            <a:avLst>
              <a:gd name="adj" fmla="val 20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6338" y="15087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昼間補正の係数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36338" y="219456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0.35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536338" y="31089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通勤・通学者が区内にいる時間（8.5時間/24時間）。横浜版と同じ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36338" y="411480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← 昼に来る人のぶんを足すため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58277" y="1325880"/>
            <a:ext cx="3576218" cy="3749040"/>
          </a:xfrm>
          <a:prstGeom prst="roundRect">
            <a:avLst>
              <a:gd name="adj" fmla="val 20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6877" y="15087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2035年以降の区別の年齢内訳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86877" y="219456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社人研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386877" y="31089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社人研の構成比を使う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86877" y="411480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← 市の推計の区別表が2034年までだから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53492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借りた値は方法タブで全部公開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妥当性① 答え合わせ：過去で当ててみた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出典：福岡市消防年報、本資料の推計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046720" y="132588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2022〜24年の差（予測−実績）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046720" y="18745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0" y="187452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−6.8%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8046720" y="27432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2023年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0" y="274320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−9.4%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046720" y="36118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2024年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0" y="361188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−7.2%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8046720" y="46177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コロナ前の傾きだと、いまを7〜9%低く見積もる → だから“上限”シナリオを置いた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妥当性② 他の都市と比べても同じ形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出典：消防庁 令和7年版、横浜市消防年報 R6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863840" y="150876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福岡の65歳以上全体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863840" y="187452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13.6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7863840" y="2971800"/>
            <a:ext cx="3870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人口100人あたり/年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（全国 11.8。約15%高い）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人口1,000人あたりでは 135.8／118.2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863840" y="4617720"/>
            <a:ext cx="3870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年を取るほど運ばれる“形”は地域によらず同じ。水準は福岡の実測に合わせた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妥当性③ 計算値と実績のずれは 1.8%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出典：本資料の推計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13258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市全体の 計算値/実績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0" y="17373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1.018倍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229600" y="30632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校正係数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0" y="3474720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博多 1.27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中央 1.15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他の5区 0.88〜0.91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0" y="4892040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都心だけ高い理由は昼間人口（次へ）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結果① 市全体：2035年は +12%〜+38%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出典：本資料の推計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1127729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519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44348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シナリオ：下限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4892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1人あたりの利用は今のまま（人口の変化だけ）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07738" y="42519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36338" y="44348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シナリオ：中間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36338" y="4892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コロナ前の伸び（年1.0%）が2040年まで続く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58277" y="42519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86877" y="44348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シナリオ：上限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386877" y="48920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コロナ後の伸び（年1.9%）が続く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結果② 7区すべて +10〜15%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出典：本資料の推計（下限シナリオ、2025→2035）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9279518" y="1325880"/>
            <a:ext cx="2107643" cy="1525696"/>
          </a:xfrm>
          <a:custGeom>
            <a:avLst/>
            <a:gdLst/>
            <a:ahLst/>
            <a:cxnLst/>
            <a:rect l="l" t="t" r="r" b="b"/>
            <a:pathLst>
              <a:path w="2107643" h="1525696">
                <a:moveTo>
                  <a:pt x="958453" y="593962"/>
                </a:moveTo>
                <a:lnTo>
                  <a:pt x="590092" y="684130"/>
                </a:lnTo>
                <a:lnTo>
                  <a:pt x="588900" y="707030"/>
                </a:lnTo>
                <a:lnTo>
                  <a:pt x="506645" y="771436"/>
                </a:lnTo>
                <a:lnTo>
                  <a:pt x="487571" y="915990"/>
                </a:lnTo>
                <a:lnTo>
                  <a:pt x="505453" y="953202"/>
                </a:lnTo>
                <a:lnTo>
                  <a:pt x="525719" y="957496"/>
                </a:lnTo>
                <a:lnTo>
                  <a:pt x="514990" y="977533"/>
                </a:lnTo>
                <a:lnTo>
                  <a:pt x="468498" y="990414"/>
                </a:lnTo>
                <a:lnTo>
                  <a:pt x="433927" y="976102"/>
                </a:lnTo>
                <a:lnTo>
                  <a:pt x="381474" y="917421"/>
                </a:lnTo>
                <a:lnTo>
                  <a:pt x="261071" y="868760"/>
                </a:lnTo>
                <a:lnTo>
                  <a:pt x="187161" y="904540"/>
                </a:lnTo>
                <a:lnTo>
                  <a:pt x="91792" y="761417"/>
                </a:lnTo>
                <a:lnTo>
                  <a:pt x="0" y="738517"/>
                </a:lnTo>
                <a:lnTo>
                  <a:pt x="150205" y="749967"/>
                </a:lnTo>
                <a:lnTo>
                  <a:pt x="312332" y="729930"/>
                </a:lnTo>
                <a:lnTo>
                  <a:pt x="417237" y="668387"/>
                </a:lnTo>
                <a:lnTo>
                  <a:pt x="501877" y="651212"/>
                </a:lnTo>
                <a:lnTo>
                  <a:pt x="655658" y="586806"/>
                </a:lnTo>
                <a:lnTo>
                  <a:pt x="815400" y="486620"/>
                </a:lnTo>
                <a:lnTo>
                  <a:pt x="976335" y="357809"/>
                </a:lnTo>
                <a:lnTo>
                  <a:pt x="1044285" y="273366"/>
                </a:lnTo>
                <a:lnTo>
                  <a:pt x="1041901" y="257622"/>
                </a:lnTo>
                <a:lnTo>
                  <a:pt x="1031172" y="246172"/>
                </a:lnTo>
                <a:lnTo>
                  <a:pt x="1029979" y="240447"/>
                </a:lnTo>
                <a:lnTo>
                  <a:pt x="1055014" y="270503"/>
                </a:lnTo>
                <a:lnTo>
                  <a:pt x="1072895" y="249035"/>
                </a:lnTo>
                <a:lnTo>
                  <a:pt x="1025211" y="233291"/>
                </a:lnTo>
                <a:lnTo>
                  <a:pt x="1071703" y="244741"/>
                </a:lnTo>
                <a:lnTo>
                  <a:pt x="1106274" y="217548"/>
                </a:lnTo>
                <a:lnTo>
                  <a:pt x="1170648" y="137399"/>
                </a:lnTo>
                <a:lnTo>
                  <a:pt x="1165880" y="83012"/>
                </a:lnTo>
                <a:lnTo>
                  <a:pt x="1188530" y="0"/>
                </a:lnTo>
                <a:lnTo>
                  <a:pt x="1266016" y="22900"/>
                </a:lnTo>
                <a:lnTo>
                  <a:pt x="1256480" y="57249"/>
                </a:lnTo>
                <a:lnTo>
                  <a:pt x="1280322" y="37212"/>
                </a:lnTo>
                <a:lnTo>
                  <a:pt x="1298203" y="58681"/>
                </a:lnTo>
                <a:lnTo>
                  <a:pt x="1312509" y="38643"/>
                </a:lnTo>
                <a:lnTo>
                  <a:pt x="1319661" y="60112"/>
                </a:lnTo>
                <a:lnTo>
                  <a:pt x="1341119" y="61543"/>
                </a:lnTo>
                <a:lnTo>
                  <a:pt x="1333966" y="78718"/>
                </a:lnTo>
                <a:lnTo>
                  <a:pt x="1401916" y="138830"/>
                </a:lnTo>
                <a:lnTo>
                  <a:pt x="1438872" y="147417"/>
                </a:lnTo>
                <a:lnTo>
                  <a:pt x="1467482" y="194648"/>
                </a:lnTo>
                <a:lnTo>
                  <a:pt x="1481788" y="181767"/>
                </a:lnTo>
                <a:lnTo>
                  <a:pt x="1473443" y="163161"/>
                </a:lnTo>
                <a:lnTo>
                  <a:pt x="1546161" y="210392"/>
                </a:lnTo>
                <a:lnTo>
                  <a:pt x="1536624" y="231860"/>
                </a:lnTo>
                <a:lnTo>
                  <a:pt x="1552122" y="291972"/>
                </a:lnTo>
                <a:lnTo>
                  <a:pt x="1634377" y="472307"/>
                </a:lnTo>
                <a:lnTo>
                  <a:pt x="1692790" y="459426"/>
                </a:lnTo>
                <a:lnTo>
                  <a:pt x="1746435" y="422214"/>
                </a:lnTo>
                <a:lnTo>
                  <a:pt x="1797696" y="472307"/>
                </a:lnTo>
                <a:lnTo>
                  <a:pt x="1776238" y="518107"/>
                </a:lnTo>
                <a:lnTo>
                  <a:pt x="1777430" y="558182"/>
                </a:lnTo>
                <a:lnTo>
                  <a:pt x="1820346" y="625450"/>
                </a:lnTo>
                <a:lnTo>
                  <a:pt x="1798888" y="649781"/>
                </a:lnTo>
                <a:lnTo>
                  <a:pt x="1903793" y="818666"/>
                </a:lnTo>
                <a:lnTo>
                  <a:pt x="1921675" y="822960"/>
                </a:lnTo>
                <a:lnTo>
                  <a:pt x="1919290" y="913128"/>
                </a:lnTo>
                <a:lnTo>
                  <a:pt x="1961014" y="904540"/>
                </a:lnTo>
                <a:lnTo>
                  <a:pt x="1993201" y="875916"/>
                </a:lnTo>
                <a:lnTo>
                  <a:pt x="1988433" y="903109"/>
                </a:lnTo>
                <a:lnTo>
                  <a:pt x="2013467" y="934596"/>
                </a:lnTo>
                <a:lnTo>
                  <a:pt x="2052806" y="903109"/>
                </a:lnTo>
                <a:lnTo>
                  <a:pt x="2107643" y="951771"/>
                </a:lnTo>
                <a:lnTo>
                  <a:pt x="2075456" y="1013314"/>
                </a:lnTo>
                <a:lnTo>
                  <a:pt x="2094530" y="1030489"/>
                </a:lnTo>
                <a:lnTo>
                  <a:pt x="2082609" y="1087738"/>
                </a:lnTo>
                <a:lnTo>
                  <a:pt x="2104067" y="1102051"/>
                </a:lnTo>
                <a:lnTo>
                  <a:pt x="2089762" y="1119226"/>
                </a:lnTo>
                <a:lnTo>
                  <a:pt x="2102875" y="1156438"/>
                </a:lnTo>
                <a:lnTo>
                  <a:pt x="2026580" y="1200806"/>
                </a:lnTo>
                <a:lnTo>
                  <a:pt x="2008698" y="1189356"/>
                </a:lnTo>
                <a:lnTo>
                  <a:pt x="1999162" y="1226568"/>
                </a:lnTo>
                <a:lnTo>
                  <a:pt x="1956246" y="1209393"/>
                </a:lnTo>
                <a:lnTo>
                  <a:pt x="1959822" y="1176475"/>
                </a:lnTo>
                <a:lnTo>
                  <a:pt x="1937172" y="1170750"/>
                </a:lnTo>
                <a:lnTo>
                  <a:pt x="1943133" y="1153575"/>
                </a:lnTo>
                <a:lnTo>
                  <a:pt x="1924059" y="1134969"/>
                </a:lnTo>
                <a:lnTo>
                  <a:pt x="1875183" y="1124951"/>
                </a:lnTo>
                <a:lnTo>
                  <a:pt x="1837035" y="1077720"/>
                </a:lnTo>
                <a:lnTo>
                  <a:pt x="1825114" y="1102051"/>
                </a:lnTo>
                <a:lnTo>
                  <a:pt x="1788159" y="1116363"/>
                </a:lnTo>
                <a:lnTo>
                  <a:pt x="1784582" y="1156438"/>
                </a:lnTo>
                <a:lnTo>
                  <a:pt x="1705903" y="1180769"/>
                </a:lnTo>
                <a:lnTo>
                  <a:pt x="1657027" y="1259487"/>
                </a:lnTo>
                <a:lnTo>
                  <a:pt x="1621264" y="1253762"/>
                </a:lnTo>
                <a:lnTo>
                  <a:pt x="1591461" y="1339636"/>
                </a:lnTo>
                <a:lnTo>
                  <a:pt x="1572388" y="1332480"/>
                </a:lnTo>
                <a:lnTo>
                  <a:pt x="1466290" y="1428372"/>
                </a:lnTo>
                <a:lnTo>
                  <a:pt x="1510398" y="1482759"/>
                </a:lnTo>
                <a:lnTo>
                  <a:pt x="1475827" y="1507090"/>
                </a:lnTo>
                <a:lnTo>
                  <a:pt x="1480595" y="1518540"/>
                </a:lnTo>
                <a:lnTo>
                  <a:pt x="1380459" y="1497072"/>
                </a:lnTo>
                <a:lnTo>
                  <a:pt x="1322045" y="1451272"/>
                </a:lnTo>
                <a:lnTo>
                  <a:pt x="1310124" y="1462722"/>
                </a:lnTo>
                <a:lnTo>
                  <a:pt x="1322045" y="1485622"/>
                </a:lnTo>
                <a:lnTo>
                  <a:pt x="1281514" y="1497072"/>
                </a:lnTo>
                <a:lnTo>
                  <a:pt x="1269593" y="1452703"/>
                </a:lnTo>
                <a:lnTo>
                  <a:pt x="1246943" y="1519971"/>
                </a:lnTo>
                <a:lnTo>
                  <a:pt x="1188530" y="1488484"/>
                </a:lnTo>
                <a:lnTo>
                  <a:pt x="1162303" y="1525696"/>
                </a:lnTo>
                <a:lnTo>
                  <a:pt x="1113427" y="1485622"/>
                </a:lnTo>
                <a:lnTo>
                  <a:pt x="1119387" y="1472741"/>
                </a:lnTo>
                <a:lnTo>
                  <a:pt x="1071703" y="1454135"/>
                </a:lnTo>
                <a:lnTo>
                  <a:pt x="1044285" y="1471309"/>
                </a:lnTo>
                <a:lnTo>
                  <a:pt x="971566" y="1415491"/>
                </a:lnTo>
                <a:lnTo>
                  <a:pt x="985872" y="1404041"/>
                </a:lnTo>
                <a:lnTo>
                  <a:pt x="975143" y="1392591"/>
                </a:lnTo>
                <a:lnTo>
                  <a:pt x="991832" y="1345361"/>
                </a:lnTo>
                <a:lnTo>
                  <a:pt x="1029979" y="1332480"/>
                </a:lnTo>
                <a:lnTo>
                  <a:pt x="1143230" y="1366829"/>
                </a:lnTo>
                <a:lnTo>
                  <a:pt x="1147998" y="1348223"/>
                </a:lnTo>
                <a:lnTo>
                  <a:pt x="1136077" y="1345361"/>
                </a:lnTo>
                <a:lnTo>
                  <a:pt x="1153958" y="1312442"/>
                </a:lnTo>
                <a:lnTo>
                  <a:pt x="1140845" y="1306717"/>
                </a:lnTo>
                <a:lnTo>
                  <a:pt x="1130116" y="1342498"/>
                </a:lnTo>
                <a:lnTo>
                  <a:pt x="1124156" y="1316736"/>
                </a:lnTo>
                <a:lnTo>
                  <a:pt x="1014482" y="1275230"/>
                </a:lnTo>
                <a:lnTo>
                  <a:pt x="1040708" y="1196512"/>
                </a:lnTo>
                <a:lnTo>
                  <a:pt x="1074087" y="1187925"/>
                </a:lnTo>
                <a:lnTo>
                  <a:pt x="1090777" y="1139263"/>
                </a:lnTo>
                <a:lnTo>
                  <a:pt x="1025211" y="1117794"/>
                </a:lnTo>
                <a:lnTo>
                  <a:pt x="1068127" y="988983"/>
                </a:lnTo>
                <a:lnTo>
                  <a:pt x="1064551" y="1001864"/>
                </a:lnTo>
                <a:lnTo>
                  <a:pt x="1100314" y="1014745"/>
                </a:lnTo>
                <a:lnTo>
                  <a:pt x="1111043" y="984690"/>
                </a:lnTo>
                <a:lnTo>
                  <a:pt x="1075279" y="971808"/>
                </a:lnTo>
                <a:lnTo>
                  <a:pt x="1070511" y="984690"/>
                </a:lnTo>
                <a:lnTo>
                  <a:pt x="1074087" y="970377"/>
                </a:lnTo>
                <a:lnTo>
                  <a:pt x="1220716" y="1020470"/>
                </a:lnTo>
                <a:lnTo>
                  <a:pt x="1231445" y="996139"/>
                </a:lnTo>
                <a:lnTo>
                  <a:pt x="1230253" y="960359"/>
                </a:lnTo>
                <a:lnTo>
                  <a:pt x="1235022" y="960359"/>
                </a:lnTo>
                <a:lnTo>
                  <a:pt x="1235022" y="928871"/>
                </a:lnTo>
                <a:lnTo>
                  <a:pt x="1233830" y="941752"/>
                </a:lnTo>
                <a:lnTo>
                  <a:pt x="1230253" y="920284"/>
                </a:lnTo>
                <a:lnTo>
                  <a:pt x="1177801" y="905972"/>
                </a:lnTo>
                <a:lnTo>
                  <a:pt x="1131308" y="921715"/>
                </a:lnTo>
                <a:lnTo>
                  <a:pt x="1052629" y="895953"/>
                </a:lnTo>
                <a:lnTo>
                  <a:pt x="1035940" y="863035"/>
                </a:lnTo>
                <a:lnTo>
                  <a:pt x="1280322" y="742811"/>
                </a:lnTo>
                <a:lnTo>
                  <a:pt x="1363769" y="765711"/>
                </a:lnTo>
                <a:lnTo>
                  <a:pt x="1387611" y="719911"/>
                </a:lnTo>
                <a:lnTo>
                  <a:pt x="1382843" y="679837"/>
                </a:lnTo>
                <a:lnTo>
                  <a:pt x="1336351" y="646918"/>
                </a:lnTo>
                <a:lnTo>
                  <a:pt x="1281514" y="533851"/>
                </a:lnTo>
                <a:lnTo>
                  <a:pt x="1367345" y="472307"/>
                </a:lnTo>
                <a:lnTo>
                  <a:pt x="1354232" y="387865"/>
                </a:lnTo>
                <a:lnTo>
                  <a:pt x="1308932" y="347790"/>
                </a:lnTo>
                <a:lnTo>
                  <a:pt x="1304164" y="372121"/>
                </a:lnTo>
                <a:lnTo>
                  <a:pt x="1237406" y="366396"/>
                </a:lnTo>
                <a:lnTo>
                  <a:pt x="1192106" y="374984"/>
                </a:lnTo>
                <a:lnTo>
                  <a:pt x="1153958" y="407902"/>
                </a:lnTo>
                <a:lnTo>
                  <a:pt x="1072895" y="416489"/>
                </a:lnTo>
                <a:lnTo>
                  <a:pt x="1024019" y="443683"/>
                </a:lnTo>
                <a:lnTo>
                  <a:pt x="1031172" y="456564"/>
                </a:lnTo>
                <a:lnTo>
                  <a:pt x="1035940" y="468014"/>
                </a:lnTo>
                <a:lnTo>
                  <a:pt x="1024019" y="443683"/>
                </a:lnTo>
                <a:lnTo>
                  <a:pt x="1009714" y="463720"/>
                </a:lnTo>
                <a:lnTo>
                  <a:pt x="1031172" y="518107"/>
                </a:lnTo>
                <a:lnTo>
                  <a:pt x="1063358" y="510951"/>
                </a:lnTo>
                <a:lnTo>
                  <a:pt x="1059782" y="523832"/>
                </a:lnTo>
                <a:lnTo>
                  <a:pt x="958453" y="593962"/>
                </a:lnTo>
                <a:close/>
              </a:path>
            </a:pathLst>
          </a:custGeom>
          <a:solidFill>
            <a:srgbClr val="EE77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896852" y="1655064"/>
            <a:ext cx="376705" cy="437958"/>
          </a:xfrm>
          <a:custGeom>
            <a:avLst/>
            <a:gdLst/>
            <a:ahLst/>
            <a:cxnLst/>
            <a:rect l="l" t="t" r="r" b="b"/>
            <a:pathLst>
              <a:path w="376705" h="437958">
                <a:moveTo>
                  <a:pt x="326637" y="297697"/>
                </a:moveTo>
                <a:lnTo>
                  <a:pt x="376705" y="354946"/>
                </a:lnTo>
                <a:lnTo>
                  <a:pt x="342134" y="337771"/>
                </a:lnTo>
                <a:lnTo>
                  <a:pt x="348095" y="367827"/>
                </a:lnTo>
                <a:lnTo>
                  <a:pt x="363592" y="360671"/>
                </a:lnTo>
                <a:lnTo>
                  <a:pt x="370745" y="362102"/>
                </a:lnTo>
                <a:lnTo>
                  <a:pt x="355248" y="370690"/>
                </a:lnTo>
                <a:lnTo>
                  <a:pt x="371937" y="403608"/>
                </a:lnTo>
                <a:lnTo>
                  <a:pt x="345711" y="397883"/>
                </a:lnTo>
                <a:lnTo>
                  <a:pt x="340942" y="407902"/>
                </a:lnTo>
                <a:lnTo>
                  <a:pt x="331405" y="415058"/>
                </a:lnTo>
                <a:lnTo>
                  <a:pt x="345711" y="396452"/>
                </a:lnTo>
                <a:lnTo>
                  <a:pt x="312332" y="389296"/>
                </a:lnTo>
                <a:lnTo>
                  <a:pt x="309948" y="410764"/>
                </a:lnTo>
                <a:lnTo>
                  <a:pt x="276569" y="426508"/>
                </a:lnTo>
                <a:lnTo>
                  <a:pt x="305179" y="437958"/>
                </a:lnTo>
                <a:lnTo>
                  <a:pt x="150205" y="417921"/>
                </a:lnTo>
                <a:lnTo>
                  <a:pt x="134708" y="379277"/>
                </a:lnTo>
                <a:lnTo>
                  <a:pt x="102521" y="369259"/>
                </a:lnTo>
                <a:lnTo>
                  <a:pt x="91792" y="322028"/>
                </a:lnTo>
                <a:lnTo>
                  <a:pt x="73911" y="323459"/>
                </a:lnTo>
                <a:lnTo>
                  <a:pt x="53645" y="296266"/>
                </a:lnTo>
                <a:lnTo>
                  <a:pt x="69142" y="293403"/>
                </a:lnTo>
                <a:lnTo>
                  <a:pt x="48876" y="266210"/>
                </a:lnTo>
                <a:lnTo>
                  <a:pt x="41724" y="279091"/>
                </a:lnTo>
                <a:lnTo>
                  <a:pt x="36955" y="171748"/>
                </a:lnTo>
                <a:lnTo>
                  <a:pt x="0" y="143123"/>
                </a:lnTo>
                <a:lnTo>
                  <a:pt x="44108" y="78718"/>
                </a:lnTo>
                <a:lnTo>
                  <a:pt x="48876" y="24331"/>
                </a:lnTo>
                <a:lnTo>
                  <a:pt x="103713" y="28625"/>
                </a:lnTo>
                <a:lnTo>
                  <a:pt x="160934" y="0"/>
                </a:lnTo>
                <a:lnTo>
                  <a:pt x="219347" y="32918"/>
                </a:lnTo>
                <a:lnTo>
                  <a:pt x="258687" y="128811"/>
                </a:lnTo>
                <a:lnTo>
                  <a:pt x="295642" y="173179"/>
                </a:lnTo>
                <a:lnTo>
                  <a:pt x="329021" y="261916"/>
                </a:lnTo>
                <a:lnTo>
                  <a:pt x="326637" y="297697"/>
                </a:lnTo>
                <a:close/>
              </a:path>
            </a:pathLst>
          </a:custGeom>
          <a:solidFill>
            <a:srgbClr val="EE77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184326" y="1858299"/>
            <a:ext cx="407700" cy="283384"/>
          </a:xfrm>
          <a:custGeom>
            <a:avLst/>
            <a:gdLst/>
            <a:ahLst/>
            <a:cxnLst/>
            <a:rect l="l" t="t" r="r" b="b"/>
            <a:pathLst>
              <a:path w="407700" h="283384">
                <a:moveTo>
                  <a:pt x="334982" y="5725"/>
                </a:moveTo>
                <a:lnTo>
                  <a:pt x="407700" y="153142"/>
                </a:lnTo>
                <a:lnTo>
                  <a:pt x="388627" y="188923"/>
                </a:lnTo>
                <a:lnTo>
                  <a:pt x="280145" y="243310"/>
                </a:lnTo>
                <a:lnTo>
                  <a:pt x="267032" y="216116"/>
                </a:lnTo>
                <a:lnTo>
                  <a:pt x="252726" y="224704"/>
                </a:lnTo>
                <a:lnTo>
                  <a:pt x="264647" y="250466"/>
                </a:lnTo>
                <a:lnTo>
                  <a:pt x="239613" y="198942"/>
                </a:lnTo>
                <a:lnTo>
                  <a:pt x="50068" y="283384"/>
                </a:lnTo>
                <a:lnTo>
                  <a:pt x="0" y="177473"/>
                </a:lnTo>
                <a:lnTo>
                  <a:pt x="11921" y="153142"/>
                </a:lnTo>
                <a:lnTo>
                  <a:pt x="158550" y="68699"/>
                </a:lnTo>
                <a:lnTo>
                  <a:pt x="157358" y="85874"/>
                </a:lnTo>
                <a:lnTo>
                  <a:pt x="180008" y="74424"/>
                </a:lnTo>
                <a:lnTo>
                  <a:pt x="162126" y="67268"/>
                </a:lnTo>
                <a:lnTo>
                  <a:pt x="264647" y="0"/>
                </a:lnTo>
                <a:lnTo>
                  <a:pt x="334982" y="5725"/>
                </a:lnTo>
                <a:close/>
              </a:path>
            </a:pathLst>
          </a:custGeom>
          <a:solidFill>
            <a:srgbClr val="EE77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208168" y="2741371"/>
            <a:ext cx="1065743" cy="1113501"/>
          </a:xfrm>
          <a:custGeom>
            <a:avLst/>
            <a:gdLst/>
            <a:ahLst/>
            <a:cxnLst/>
            <a:rect l="l" t="t" r="r" b="b"/>
            <a:pathLst>
              <a:path w="1065743" h="1113501">
                <a:moveTo>
                  <a:pt x="231269" y="526694"/>
                </a:moveTo>
                <a:lnTo>
                  <a:pt x="168087" y="442252"/>
                </a:lnTo>
                <a:lnTo>
                  <a:pt x="158550" y="354946"/>
                </a:lnTo>
                <a:lnTo>
                  <a:pt x="66758" y="276228"/>
                </a:lnTo>
                <a:lnTo>
                  <a:pt x="11921" y="145986"/>
                </a:lnTo>
                <a:lnTo>
                  <a:pt x="14305" y="113068"/>
                </a:lnTo>
                <a:lnTo>
                  <a:pt x="42916" y="124517"/>
                </a:lnTo>
                <a:lnTo>
                  <a:pt x="42916" y="145986"/>
                </a:lnTo>
                <a:lnTo>
                  <a:pt x="71526" y="123086"/>
                </a:lnTo>
                <a:lnTo>
                  <a:pt x="44108" y="111636"/>
                </a:lnTo>
                <a:lnTo>
                  <a:pt x="59605" y="93030"/>
                </a:lnTo>
                <a:lnTo>
                  <a:pt x="0" y="48662"/>
                </a:lnTo>
                <a:lnTo>
                  <a:pt x="42916" y="0"/>
                </a:lnTo>
                <a:lnTo>
                  <a:pt x="115634" y="55818"/>
                </a:lnTo>
                <a:lnTo>
                  <a:pt x="143053" y="38643"/>
                </a:lnTo>
                <a:lnTo>
                  <a:pt x="190737" y="57249"/>
                </a:lnTo>
                <a:lnTo>
                  <a:pt x="184776" y="70131"/>
                </a:lnTo>
                <a:lnTo>
                  <a:pt x="233653" y="110205"/>
                </a:lnTo>
                <a:lnTo>
                  <a:pt x="259879" y="72993"/>
                </a:lnTo>
                <a:lnTo>
                  <a:pt x="318292" y="104480"/>
                </a:lnTo>
                <a:lnTo>
                  <a:pt x="340942" y="37212"/>
                </a:lnTo>
                <a:lnTo>
                  <a:pt x="352863" y="81580"/>
                </a:lnTo>
                <a:lnTo>
                  <a:pt x="379090" y="77287"/>
                </a:lnTo>
                <a:lnTo>
                  <a:pt x="393395" y="70131"/>
                </a:lnTo>
                <a:lnTo>
                  <a:pt x="381474" y="47231"/>
                </a:lnTo>
                <a:lnTo>
                  <a:pt x="393395" y="35781"/>
                </a:lnTo>
                <a:lnTo>
                  <a:pt x="451808" y="81580"/>
                </a:lnTo>
                <a:lnTo>
                  <a:pt x="545984" y="100186"/>
                </a:lnTo>
                <a:lnTo>
                  <a:pt x="648506" y="156005"/>
                </a:lnTo>
                <a:lnTo>
                  <a:pt x="709303" y="249035"/>
                </a:lnTo>
                <a:lnTo>
                  <a:pt x="753411" y="239016"/>
                </a:lnTo>
                <a:lnTo>
                  <a:pt x="851164" y="380708"/>
                </a:lnTo>
                <a:lnTo>
                  <a:pt x="873814" y="379277"/>
                </a:lnTo>
                <a:lnTo>
                  <a:pt x="922690" y="427939"/>
                </a:lnTo>
                <a:lnTo>
                  <a:pt x="993024" y="569631"/>
                </a:lnTo>
                <a:lnTo>
                  <a:pt x="969182" y="664093"/>
                </a:lnTo>
                <a:lnTo>
                  <a:pt x="1031172" y="661230"/>
                </a:lnTo>
                <a:lnTo>
                  <a:pt x="1020443" y="697011"/>
                </a:lnTo>
                <a:lnTo>
                  <a:pt x="1065743" y="755692"/>
                </a:lnTo>
                <a:lnTo>
                  <a:pt x="1064551" y="788610"/>
                </a:lnTo>
                <a:lnTo>
                  <a:pt x="1022827" y="811510"/>
                </a:lnTo>
                <a:lnTo>
                  <a:pt x="990640" y="863035"/>
                </a:lnTo>
                <a:lnTo>
                  <a:pt x="956069" y="877347"/>
                </a:lnTo>
                <a:lnTo>
                  <a:pt x="922690" y="860172"/>
                </a:lnTo>
                <a:lnTo>
                  <a:pt x="895271" y="797198"/>
                </a:lnTo>
                <a:lnTo>
                  <a:pt x="836858" y="722774"/>
                </a:lnTo>
                <a:lnTo>
                  <a:pt x="821361" y="715617"/>
                </a:lnTo>
                <a:lnTo>
                  <a:pt x="770100" y="749967"/>
                </a:lnTo>
                <a:lnTo>
                  <a:pt x="865469" y="854447"/>
                </a:lnTo>
                <a:lnTo>
                  <a:pt x="894079" y="914559"/>
                </a:lnTo>
                <a:lnTo>
                  <a:pt x="863085" y="941752"/>
                </a:lnTo>
                <a:lnTo>
                  <a:pt x="895271" y="994708"/>
                </a:lnTo>
                <a:lnTo>
                  <a:pt x="866661" y="1023333"/>
                </a:lnTo>
                <a:lnTo>
                  <a:pt x="857124" y="1071995"/>
                </a:lnTo>
                <a:lnTo>
                  <a:pt x="869045" y="1083445"/>
                </a:lnTo>
                <a:lnTo>
                  <a:pt x="848779" y="1102051"/>
                </a:lnTo>
                <a:lnTo>
                  <a:pt x="833282" y="1086307"/>
                </a:lnTo>
                <a:lnTo>
                  <a:pt x="803479" y="1113501"/>
                </a:lnTo>
                <a:lnTo>
                  <a:pt x="531679" y="735655"/>
                </a:lnTo>
                <a:lnTo>
                  <a:pt x="469690" y="685561"/>
                </a:lnTo>
                <a:lnTo>
                  <a:pt x="444655" y="698443"/>
                </a:lnTo>
                <a:lnTo>
                  <a:pt x="331405" y="565338"/>
                </a:lnTo>
                <a:lnTo>
                  <a:pt x="231269" y="526694"/>
                </a:lnTo>
                <a:close/>
              </a:path>
            </a:pathLst>
          </a:custGeom>
          <a:solidFill>
            <a:srgbClr val="F7C6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737286" y="2795758"/>
            <a:ext cx="702150" cy="741380"/>
          </a:xfrm>
          <a:custGeom>
            <a:avLst/>
            <a:gdLst/>
            <a:ahLst/>
            <a:cxnLst/>
            <a:rect l="l" t="t" r="r" b="b"/>
            <a:pathLst>
              <a:path w="702150" h="741380">
                <a:moveTo>
                  <a:pt x="220540" y="490914"/>
                </a:moveTo>
                <a:lnTo>
                  <a:pt x="178816" y="422214"/>
                </a:lnTo>
                <a:lnTo>
                  <a:pt x="106097" y="403608"/>
                </a:lnTo>
                <a:lnTo>
                  <a:pt x="0" y="188923"/>
                </a:lnTo>
                <a:lnTo>
                  <a:pt x="8345" y="186061"/>
                </a:lnTo>
                <a:lnTo>
                  <a:pt x="4768" y="176042"/>
                </a:lnTo>
                <a:lnTo>
                  <a:pt x="14305" y="171748"/>
                </a:lnTo>
                <a:lnTo>
                  <a:pt x="10729" y="187492"/>
                </a:lnTo>
                <a:lnTo>
                  <a:pt x="34571" y="186061"/>
                </a:lnTo>
                <a:lnTo>
                  <a:pt x="46492" y="156005"/>
                </a:lnTo>
                <a:lnTo>
                  <a:pt x="64374" y="173179"/>
                </a:lnTo>
                <a:lnTo>
                  <a:pt x="81063" y="164592"/>
                </a:lnTo>
                <a:lnTo>
                  <a:pt x="101329" y="148848"/>
                </a:lnTo>
                <a:lnTo>
                  <a:pt x="92984" y="137399"/>
                </a:lnTo>
                <a:lnTo>
                  <a:pt x="70334" y="150280"/>
                </a:lnTo>
                <a:lnTo>
                  <a:pt x="126363" y="117361"/>
                </a:lnTo>
                <a:lnTo>
                  <a:pt x="187161" y="128811"/>
                </a:lnTo>
                <a:lnTo>
                  <a:pt x="203850" y="67268"/>
                </a:lnTo>
                <a:lnTo>
                  <a:pt x="250342" y="72993"/>
                </a:lnTo>
                <a:lnTo>
                  <a:pt x="252726" y="54387"/>
                </a:lnTo>
                <a:lnTo>
                  <a:pt x="247958" y="94461"/>
                </a:lnTo>
                <a:lnTo>
                  <a:pt x="295642" y="101618"/>
                </a:lnTo>
                <a:lnTo>
                  <a:pt x="299219" y="156005"/>
                </a:lnTo>
                <a:lnTo>
                  <a:pt x="315908" y="158867"/>
                </a:lnTo>
                <a:lnTo>
                  <a:pt x="318292" y="187492"/>
                </a:lnTo>
                <a:lnTo>
                  <a:pt x="267032" y="181767"/>
                </a:lnTo>
                <a:lnTo>
                  <a:pt x="272992" y="197510"/>
                </a:lnTo>
                <a:lnTo>
                  <a:pt x="292066" y="228998"/>
                </a:lnTo>
                <a:lnTo>
                  <a:pt x="323061" y="220410"/>
                </a:lnTo>
                <a:lnTo>
                  <a:pt x="326637" y="196079"/>
                </a:lnTo>
                <a:lnTo>
                  <a:pt x="348095" y="223273"/>
                </a:lnTo>
                <a:lnTo>
                  <a:pt x="374321" y="210392"/>
                </a:lnTo>
                <a:lnTo>
                  <a:pt x="361208" y="184629"/>
                </a:lnTo>
                <a:lnTo>
                  <a:pt x="373129" y="178904"/>
                </a:lnTo>
                <a:lnTo>
                  <a:pt x="386242" y="206098"/>
                </a:lnTo>
                <a:lnTo>
                  <a:pt x="437503" y="178904"/>
                </a:lnTo>
                <a:lnTo>
                  <a:pt x="416045" y="137399"/>
                </a:lnTo>
                <a:lnTo>
                  <a:pt x="375513" y="158867"/>
                </a:lnTo>
                <a:lnTo>
                  <a:pt x="334982" y="138830"/>
                </a:lnTo>
                <a:lnTo>
                  <a:pt x="379090" y="115930"/>
                </a:lnTo>
                <a:lnTo>
                  <a:pt x="336174" y="32918"/>
                </a:lnTo>
                <a:lnTo>
                  <a:pt x="399355" y="0"/>
                </a:lnTo>
                <a:lnTo>
                  <a:pt x="453000" y="107343"/>
                </a:lnTo>
                <a:lnTo>
                  <a:pt x="482803" y="91599"/>
                </a:lnTo>
                <a:lnTo>
                  <a:pt x="540024" y="224704"/>
                </a:lnTo>
                <a:lnTo>
                  <a:pt x="629432" y="300559"/>
                </a:lnTo>
                <a:lnTo>
                  <a:pt x="638969" y="387865"/>
                </a:lnTo>
                <a:lnTo>
                  <a:pt x="702150" y="472307"/>
                </a:lnTo>
                <a:lnTo>
                  <a:pt x="634200" y="490914"/>
                </a:lnTo>
                <a:lnTo>
                  <a:pt x="644929" y="505226"/>
                </a:lnTo>
                <a:lnTo>
                  <a:pt x="551945" y="532419"/>
                </a:lnTo>
                <a:lnTo>
                  <a:pt x="499492" y="569631"/>
                </a:lnTo>
                <a:lnTo>
                  <a:pt x="493532" y="595394"/>
                </a:lnTo>
                <a:lnTo>
                  <a:pt x="507837" y="625450"/>
                </a:lnTo>
                <a:lnTo>
                  <a:pt x="474458" y="644056"/>
                </a:lnTo>
                <a:lnTo>
                  <a:pt x="483995" y="684130"/>
                </a:lnTo>
                <a:lnTo>
                  <a:pt x="454192" y="701305"/>
                </a:lnTo>
                <a:lnTo>
                  <a:pt x="464921" y="738517"/>
                </a:lnTo>
                <a:lnTo>
                  <a:pt x="445848" y="741380"/>
                </a:lnTo>
                <a:lnTo>
                  <a:pt x="414853" y="739948"/>
                </a:lnTo>
                <a:lnTo>
                  <a:pt x="346903" y="697011"/>
                </a:lnTo>
                <a:lnTo>
                  <a:pt x="303987" y="697011"/>
                </a:lnTo>
                <a:lnTo>
                  <a:pt x="283721" y="672680"/>
                </a:lnTo>
                <a:lnTo>
                  <a:pt x="240805" y="676974"/>
                </a:lnTo>
                <a:lnTo>
                  <a:pt x="220540" y="490914"/>
                </a:lnTo>
                <a:close/>
              </a:path>
            </a:pathLst>
          </a:cu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841000" y="3268066"/>
            <a:ext cx="1037132" cy="1030489"/>
          </a:xfrm>
          <a:custGeom>
            <a:avLst/>
            <a:gdLst/>
            <a:ahLst/>
            <a:cxnLst/>
            <a:rect l="l" t="t" r="r" b="b"/>
            <a:pathLst>
              <a:path w="1037132" h="1030489">
                <a:moveTo>
                  <a:pt x="0" y="936028"/>
                </a:moveTo>
                <a:lnTo>
                  <a:pt x="2384" y="845860"/>
                </a:lnTo>
                <a:lnTo>
                  <a:pt x="120403" y="874484"/>
                </a:lnTo>
                <a:lnTo>
                  <a:pt x="141861" y="785748"/>
                </a:lnTo>
                <a:lnTo>
                  <a:pt x="168087" y="774298"/>
                </a:lnTo>
                <a:lnTo>
                  <a:pt x="227692" y="691286"/>
                </a:lnTo>
                <a:lnTo>
                  <a:pt x="232461" y="591100"/>
                </a:lnTo>
                <a:lnTo>
                  <a:pt x="252726" y="548163"/>
                </a:lnTo>
                <a:lnTo>
                  <a:pt x="272992" y="522401"/>
                </a:lnTo>
                <a:lnTo>
                  <a:pt x="312332" y="539576"/>
                </a:lnTo>
                <a:lnTo>
                  <a:pt x="287298" y="478032"/>
                </a:lnTo>
                <a:lnTo>
                  <a:pt x="300411" y="433664"/>
                </a:lnTo>
                <a:lnTo>
                  <a:pt x="264647" y="301991"/>
                </a:lnTo>
                <a:lnTo>
                  <a:pt x="269416" y="243310"/>
                </a:lnTo>
                <a:lnTo>
                  <a:pt x="311140" y="267641"/>
                </a:lnTo>
                <a:lnTo>
                  <a:pt x="361208" y="266210"/>
                </a:lnTo>
                <a:lnTo>
                  <a:pt x="349287" y="230429"/>
                </a:lnTo>
                <a:lnTo>
                  <a:pt x="380282" y="211823"/>
                </a:lnTo>
                <a:lnTo>
                  <a:pt x="370745" y="171748"/>
                </a:lnTo>
                <a:lnTo>
                  <a:pt x="404124" y="153142"/>
                </a:lnTo>
                <a:lnTo>
                  <a:pt x="391011" y="103049"/>
                </a:lnTo>
                <a:lnTo>
                  <a:pt x="444655" y="61543"/>
                </a:lnTo>
                <a:lnTo>
                  <a:pt x="598437" y="0"/>
                </a:lnTo>
                <a:lnTo>
                  <a:pt x="698574" y="38643"/>
                </a:lnTo>
                <a:lnTo>
                  <a:pt x="811824" y="171748"/>
                </a:lnTo>
                <a:lnTo>
                  <a:pt x="838050" y="158867"/>
                </a:lnTo>
                <a:lnTo>
                  <a:pt x="902424" y="213254"/>
                </a:lnTo>
                <a:lnTo>
                  <a:pt x="1037132" y="400746"/>
                </a:lnTo>
                <a:lnTo>
                  <a:pt x="1007329" y="396452"/>
                </a:lnTo>
                <a:lnTo>
                  <a:pt x="997793" y="423645"/>
                </a:lnTo>
                <a:lnTo>
                  <a:pt x="964414" y="416489"/>
                </a:lnTo>
                <a:lnTo>
                  <a:pt x="936995" y="439389"/>
                </a:lnTo>
                <a:lnTo>
                  <a:pt x="917922" y="432233"/>
                </a:lnTo>
                <a:lnTo>
                  <a:pt x="920306" y="462289"/>
                </a:lnTo>
                <a:lnTo>
                  <a:pt x="886927" y="485189"/>
                </a:lnTo>
                <a:lnTo>
                  <a:pt x="896464" y="519538"/>
                </a:lnTo>
                <a:lnTo>
                  <a:pt x="883350" y="530988"/>
                </a:lnTo>
                <a:lnTo>
                  <a:pt x="926266" y="631175"/>
                </a:lnTo>
                <a:lnTo>
                  <a:pt x="895271" y="665524"/>
                </a:lnTo>
                <a:lnTo>
                  <a:pt x="876198" y="661230"/>
                </a:lnTo>
                <a:lnTo>
                  <a:pt x="841627" y="685561"/>
                </a:lnTo>
                <a:lnTo>
                  <a:pt x="860700" y="742811"/>
                </a:lnTo>
                <a:lnTo>
                  <a:pt x="820169" y="771436"/>
                </a:lnTo>
                <a:lnTo>
                  <a:pt x="803479" y="752829"/>
                </a:lnTo>
                <a:lnTo>
                  <a:pt x="753411" y="774298"/>
                </a:lnTo>
                <a:lnTo>
                  <a:pt x="737914" y="752829"/>
                </a:lnTo>
                <a:lnTo>
                  <a:pt x="748642" y="727067"/>
                </a:lnTo>
                <a:lnTo>
                  <a:pt x="734337" y="664093"/>
                </a:lnTo>
                <a:lnTo>
                  <a:pt x="714071" y="669818"/>
                </a:lnTo>
                <a:lnTo>
                  <a:pt x="703342" y="691286"/>
                </a:lnTo>
                <a:lnTo>
                  <a:pt x="656850" y="705599"/>
                </a:lnTo>
                <a:lnTo>
                  <a:pt x="615127" y="762848"/>
                </a:lnTo>
                <a:lnTo>
                  <a:pt x="565058" y="747105"/>
                </a:lnTo>
                <a:lnTo>
                  <a:pt x="543600" y="780023"/>
                </a:lnTo>
                <a:lnTo>
                  <a:pt x="491148" y="800060"/>
                </a:lnTo>
                <a:lnTo>
                  <a:pt x="460153" y="837272"/>
                </a:lnTo>
                <a:lnTo>
                  <a:pt x="464921" y="901678"/>
                </a:lnTo>
                <a:lnTo>
                  <a:pt x="432734" y="905972"/>
                </a:lnTo>
                <a:lnTo>
                  <a:pt x="418429" y="927440"/>
                </a:lnTo>
                <a:lnTo>
                  <a:pt x="392203" y="913128"/>
                </a:lnTo>
                <a:lnTo>
                  <a:pt x="369553" y="996139"/>
                </a:lnTo>
                <a:lnTo>
                  <a:pt x="345711" y="1010452"/>
                </a:lnTo>
                <a:lnTo>
                  <a:pt x="308755" y="976102"/>
                </a:lnTo>
                <a:lnTo>
                  <a:pt x="284913" y="999002"/>
                </a:lnTo>
                <a:lnTo>
                  <a:pt x="201466" y="1020470"/>
                </a:lnTo>
                <a:lnTo>
                  <a:pt x="187161" y="997571"/>
                </a:lnTo>
                <a:lnTo>
                  <a:pt x="143053" y="981827"/>
                </a:lnTo>
                <a:lnTo>
                  <a:pt x="71526" y="1030489"/>
                </a:lnTo>
                <a:lnTo>
                  <a:pt x="0" y="936028"/>
                </a:lnTo>
                <a:close/>
              </a:path>
            </a:pathLst>
          </a:custGeom>
          <a:solidFill>
            <a:srgbClr val="EF87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639534" y="3199366"/>
            <a:ext cx="513798" cy="943184"/>
          </a:xfrm>
          <a:custGeom>
            <a:avLst/>
            <a:gdLst/>
            <a:ahLst/>
            <a:cxnLst/>
            <a:rect l="l" t="t" r="r" b="b"/>
            <a:pathLst>
              <a:path w="513798" h="943184">
                <a:moveTo>
                  <a:pt x="0" y="462289"/>
                </a:moveTo>
                <a:lnTo>
                  <a:pt x="33379" y="369259"/>
                </a:lnTo>
                <a:lnTo>
                  <a:pt x="64374" y="364965"/>
                </a:lnTo>
                <a:lnTo>
                  <a:pt x="84640" y="339203"/>
                </a:lnTo>
                <a:lnTo>
                  <a:pt x="102521" y="249035"/>
                </a:lnTo>
                <a:lnTo>
                  <a:pt x="76295" y="246172"/>
                </a:lnTo>
                <a:lnTo>
                  <a:pt x="121595" y="94461"/>
                </a:lnTo>
                <a:lnTo>
                  <a:pt x="170471" y="91599"/>
                </a:lnTo>
                <a:lnTo>
                  <a:pt x="203850" y="0"/>
                </a:lnTo>
                <a:lnTo>
                  <a:pt x="259879" y="8587"/>
                </a:lnTo>
                <a:lnTo>
                  <a:pt x="294450" y="34350"/>
                </a:lnTo>
                <a:lnTo>
                  <a:pt x="323061" y="97324"/>
                </a:lnTo>
                <a:lnTo>
                  <a:pt x="338558" y="273366"/>
                </a:lnTo>
                <a:lnTo>
                  <a:pt x="381474" y="269072"/>
                </a:lnTo>
                <a:lnTo>
                  <a:pt x="401740" y="293403"/>
                </a:lnTo>
                <a:lnTo>
                  <a:pt x="470882" y="312009"/>
                </a:lnTo>
                <a:lnTo>
                  <a:pt x="466113" y="370690"/>
                </a:lnTo>
                <a:lnTo>
                  <a:pt x="501877" y="502363"/>
                </a:lnTo>
                <a:lnTo>
                  <a:pt x="488763" y="546732"/>
                </a:lnTo>
                <a:lnTo>
                  <a:pt x="513798" y="608275"/>
                </a:lnTo>
                <a:lnTo>
                  <a:pt x="474458" y="591100"/>
                </a:lnTo>
                <a:lnTo>
                  <a:pt x="454192" y="616862"/>
                </a:lnTo>
                <a:lnTo>
                  <a:pt x="433927" y="659799"/>
                </a:lnTo>
                <a:lnTo>
                  <a:pt x="429158" y="759986"/>
                </a:lnTo>
                <a:lnTo>
                  <a:pt x="369553" y="842997"/>
                </a:lnTo>
                <a:lnTo>
                  <a:pt x="343326" y="854447"/>
                </a:lnTo>
                <a:lnTo>
                  <a:pt x="321869" y="943184"/>
                </a:lnTo>
                <a:lnTo>
                  <a:pt x="239613" y="930303"/>
                </a:lnTo>
                <a:lnTo>
                  <a:pt x="203850" y="914559"/>
                </a:lnTo>
                <a:lnTo>
                  <a:pt x="220540" y="884503"/>
                </a:lnTo>
                <a:lnTo>
                  <a:pt x="216963" y="841566"/>
                </a:lnTo>
                <a:lnTo>
                  <a:pt x="188353" y="805785"/>
                </a:lnTo>
                <a:lnTo>
                  <a:pt x="190737" y="699874"/>
                </a:lnTo>
                <a:lnTo>
                  <a:pt x="138284" y="675543"/>
                </a:lnTo>
                <a:lnTo>
                  <a:pt x="140668" y="655506"/>
                </a:lnTo>
                <a:lnTo>
                  <a:pt x="115634" y="639762"/>
                </a:lnTo>
                <a:lnTo>
                  <a:pt x="134708" y="632606"/>
                </a:lnTo>
                <a:lnTo>
                  <a:pt x="102521" y="601119"/>
                </a:lnTo>
                <a:lnTo>
                  <a:pt x="94176" y="551025"/>
                </a:lnTo>
                <a:lnTo>
                  <a:pt x="64374" y="556750"/>
                </a:lnTo>
                <a:lnTo>
                  <a:pt x="7153" y="528126"/>
                </a:lnTo>
                <a:lnTo>
                  <a:pt x="16689" y="485189"/>
                </a:lnTo>
                <a:lnTo>
                  <a:pt x="0" y="462289"/>
                </a:lnTo>
                <a:close/>
              </a:path>
            </a:pathLst>
          </a:custGeom>
          <a:solidFill>
            <a:srgbClr val="EA5D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727573" y="2984681"/>
            <a:ext cx="1580732" cy="2455999"/>
          </a:xfrm>
          <a:custGeom>
            <a:avLst/>
            <a:gdLst/>
            <a:ahLst/>
            <a:cxnLst/>
            <a:rect l="l" t="t" r="r" b="b"/>
            <a:pathLst>
              <a:path w="1580732" h="2455999">
                <a:moveTo>
                  <a:pt x="3576" y="1677407"/>
                </a:moveTo>
                <a:lnTo>
                  <a:pt x="20266" y="1624451"/>
                </a:lnTo>
                <a:lnTo>
                  <a:pt x="10729" y="1551459"/>
                </a:lnTo>
                <a:lnTo>
                  <a:pt x="50068" y="1534284"/>
                </a:lnTo>
                <a:lnTo>
                  <a:pt x="0" y="1449841"/>
                </a:lnTo>
                <a:lnTo>
                  <a:pt x="72718" y="1359673"/>
                </a:lnTo>
                <a:lnTo>
                  <a:pt x="91792" y="1286680"/>
                </a:lnTo>
                <a:lnTo>
                  <a:pt x="164511" y="1280955"/>
                </a:lnTo>
                <a:lnTo>
                  <a:pt x="149013" y="1205100"/>
                </a:lnTo>
                <a:lnTo>
                  <a:pt x="207426" y="1253762"/>
                </a:lnTo>
                <a:lnTo>
                  <a:pt x="220540" y="1207962"/>
                </a:lnTo>
                <a:lnTo>
                  <a:pt x="252726" y="1203668"/>
                </a:lnTo>
                <a:lnTo>
                  <a:pt x="262263" y="1268074"/>
                </a:lnTo>
                <a:lnTo>
                  <a:pt x="327829" y="1311011"/>
                </a:lnTo>
                <a:lnTo>
                  <a:pt x="436311" y="1302424"/>
                </a:lnTo>
                <a:lnTo>
                  <a:pt x="495916" y="1280955"/>
                </a:lnTo>
                <a:lnTo>
                  <a:pt x="488763" y="1216550"/>
                </a:lnTo>
                <a:lnTo>
                  <a:pt x="517374" y="1162163"/>
                </a:lnTo>
                <a:lnTo>
                  <a:pt x="553137" y="1165025"/>
                </a:lnTo>
                <a:lnTo>
                  <a:pt x="610358" y="1117794"/>
                </a:lnTo>
                <a:lnTo>
                  <a:pt x="594861" y="1097757"/>
                </a:lnTo>
                <a:lnTo>
                  <a:pt x="610358" y="1082013"/>
                </a:lnTo>
                <a:lnTo>
                  <a:pt x="598437" y="1043370"/>
                </a:lnTo>
                <a:lnTo>
                  <a:pt x="599629" y="874484"/>
                </a:lnTo>
                <a:lnTo>
                  <a:pt x="623471" y="812941"/>
                </a:lnTo>
                <a:lnTo>
                  <a:pt x="616319" y="694149"/>
                </a:lnTo>
                <a:lnTo>
                  <a:pt x="668771" y="300559"/>
                </a:lnTo>
                <a:lnTo>
                  <a:pt x="795135" y="220410"/>
                </a:lnTo>
                <a:lnTo>
                  <a:pt x="848779" y="143123"/>
                </a:lnTo>
                <a:lnTo>
                  <a:pt x="851164" y="12881"/>
                </a:lnTo>
                <a:lnTo>
                  <a:pt x="886927" y="21469"/>
                </a:lnTo>
                <a:lnTo>
                  <a:pt x="889311" y="7156"/>
                </a:lnTo>
                <a:lnTo>
                  <a:pt x="903616" y="7156"/>
                </a:lnTo>
                <a:lnTo>
                  <a:pt x="886927" y="21469"/>
                </a:lnTo>
                <a:lnTo>
                  <a:pt x="925074" y="24331"/>
                </a:lnTo>
                <a:lnTo>
                  <a:pt x="1009714" y="0"/>
                </a:lnTo>
                <a:lnTo>
                  <a:pt x="1117003" y="220410"/>
                </a:lnTo>
                <a:lnTo>
                  <a:pt x="1082432" y="306284"/>
                </a:lnTo>
                <a:lnTo>
                  <a:pt x="1033556" y="309147"/>
                </a:lnTo>
                <a:lnTo>
                  <a:pt x="988256" y="460858"/>
                </a:lnTo>
                <a:lnTo>
                  <a:pt x="1014482" y="463720"/>
                </a:lnTo>
                <a:lnTo>
                  <a:pt x="1001369" y="541007"/>
                </a:lnTo>
                <a:lnTo>
                  <a:pt x="976335" y="579650"/>
                </a:lnTo>
                <a:lnTo>
                  <a:pt x="945340" y="583944"/>
                </a:lnTo>
                <a:lnTo>
                  <a:pt x="909577" y="681268"/>
                </a:lnTo>
                <a:lnTo>
                  <a:pt x="928650" y="699874"/>
                </a:lnTo>
                <a:lnTo>
                  <a:pt x="914345" y="727067"/>
                </a:lnTo>
                <a:lnTo>
                  <a:pt x="933419" y="758554"/>
                </a:lnTo>
                <a:lnTo>
                  <a:pt x="1006137" y="765711"/>
                </a:lnTo>
                <a:lnTo>
                  <a:pt x="1014482" y="815804"/>
                </a:lnTo>
                <a:lnTo>
                  <a:pt x="1046669" y="847291"/>
                </a:lnTo>
                <a:lnTo>
                  <a:pt x="1027595" y="854447"/>
                </a:lnTo>
                <a:lnTo>
                  <a:pt x="1052629" y="870191"/>
                </a:lnTo>
                <a:lnTo>
                  <a:pt x="1050245" y="890228"/>
                </a:lnTo>
                <a:lnTo>
                  <a:pt x="1102698" y="914559"/>
                </a:lnTo>
                <a:lnTo>
                  <a:pt x="1100314" y="1020470"/>
                </a:lnTo>
                <a:lnTo>
                  <a:pt x="1128924" y="1056251"/>
                </a:lnTo>
                <a:lnTo>
                  <a:pt x="1132501" y="1099188"/>
                </a:lnTo>
                <a:lnTo>
                  <a:pt x="1114619" y="1133538"/>
                </a:lnTo>
                <a:lnTo>
                  <a:pt x="1121772" y="1189356"/>
                </a:lnTo>
                <a:lnTo>
                  <a:pt x="1107466" y="1210825"/>
                </a:lnTo>
                <a:lnTo>
                  <a:pt x="1279130" y="1436960"/>
                </a:lnTo>
                <a:lnTo>
                  <a:pt x="1273169" y="1479897"/>
                </a:lnTo>
                <a:lnTo>
                  <a:pt x="1302972" y="1542871"/>
                </a:lnTo>
                <a:lnTo>
                  <a:pt x="1312509" y="1611570"/>
                </a:lnTo>
                <a:lnTo>
                  <a:pt x="1305356" y="1663095"/>
                </a:lnTo>
                <a:lnTo>
                  <a:pt x="1386419" y="1867761"/>
                </a:lnTo>
                <a:lnTo>
                  <a:pt x="1359001" y="1925011"/>
                </a:lnTo>
                <a:lnTo>
                  <a:pt x="1382843" y="2026628"/>
                </a:lnTo>
                <a:lnTo>
                  <a:pt x="1515167" y="2108209"/>
                </a:lnTo>
                <a:lnTo>
                  <a:pt x="1524703" y="2194083"/>
                </a:lnTo>
                <a:lnTo>
                  <a:pt x="1555698" y="2195514"/>
                </a:lnTo>
                <a:lnTo>
                  <a:pt x="1580732" y="2232726"/>
                </a:lnTo>
                <a:lnTo>
                  <a:pt x="1564043" y="2284251"/>
                </a:lnTo>
                <a:lnTo>
                  <a:pt x="1480595" y="2237020"/>
                </a:lnTo>
                <a:lnTo>
                  <a:pt x="1482980" y="2318600"/>
                </a:lnTo>
                <a:lnTo>
                  <a:pt x="1502053" y="2344363"/>
                </a:lnTo>
                <a:lnTo>
                  <a:pt x="1479403" y="2355812"/>
                </a:lnTo>
                <a:lnTo>
                  <a:pt x="1499669" y="2375850"/>
                </a:lnTo>
                <a:lnTo>
                  <a:pt x="1478211" y="2428805"/>
                </a:lnTo>
                <a:lnTo>
                  <a:pt x="1401916" y="2440255"/>
                </a:lnTo>
                <a:lnTo>
                  <a:pt x="1372114" y="2410199"/>
                </a:lnTo>
                <a:lnTo>
                  <a:pt x="1268401" y="2455999"/>
                </a:lnTo>
                <a:lnTo>
                  <a:pt x="1249327" y="2398749"/>
                </a:lnTo>
                <a:lnTo>
                  <a:pt x="1177801" y="2340069"/>
                </a:lnTo>
                <a:lnTo>
                  <a:pt x="1156343" y="2294269"/>
                </a:lnTo>
                <a:lnTo>
                  <a:pt x="1136077" y="2327188"/>
                </a:lnTo>
                <a:lnTo>
                  <a:pt x="1091969" y="2314307"/>
                </a:lnTo>
                <a:lnTo>
                  <a:pt x="1033556" y="2334344"/>
                </a:lnTo>
                <a:lnTo>
                  <a:pt x="1012098" y="2320032"/>
                </a:lnTo>
                <a:lnTo>
                  <a:pt x="1001369" y="2338638"/>
                </a:lnTo>
                <a:lnTo>
                  <a:pt x="877390" y="2169752"/>
                </a:lnTo>
                <a:lnTo>
                  <a:pt x="770100" y="2168321"/>
                </a:lnTo>
                <a:lnTo>
                  <a:pt x="751027" y="2091034"/>
                </a:lnTo>
                <a:lnTo>
                  <a:pt x="610358" y="2012316"/>
                </a:lnTo>
                <a:lnTo>
                  <a:pt x="574595" y="1973673"/>
                </a:lnTo>
                <a:lnTo>
                  <a:pt x="500684" y="1983691"/>
                </a:lnTo>
                <a:lnTo>
                  <a:pt x="491148" y="1942186"/>
                </a:lnTo>
                <a:lnTo>
                  <a:pt x="467305" y="1925011"/>
                </a:lnTo>
                <a:lnTo>
                  <a:pt x="408892" y="1907836"/>
                </a:lnTo>
                <a:lnTo>
                  <a:pt x="365976" y="1937892"/>
                </a:lnTo>
                <a:lnTo>
                  <a:pt x="299219" y="1913561"/>
                </a:lnTo>
                <a:lnTo>
                  <a:pt x="232461" y="1820531"/>
                </a:lnTo>
                <a:lnTo>
                  <a:pt x="195505" y="1817668"/>
                </a:lnTo>
                <a:lnTo>
                  <a:pt x="81063" y="1724638"/>
                </a:lnTo>
                <a:lnTo>
                  <a:pt x="58413" y="1684563"/>
                </a:lnTo>
                <a:lnTo>
                  <a:pt x="3576" y="1677407"/>
                </a:lnTo>
                <a:close/>
              </a:path>
            </a:pathLst>
          </a:custGeom>
          <a:solidFill>
            <a:srgbClr val="F194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45414" y="1969936"/>
            <a:ext cx="1733322" cy="2325757"/>
          </a:xfrm>
          <a:custGeom>
            <a:avLst/>
            <a:gdLst/>
            <a:ahLst/>
            <a:cxnLst/>
            <a:rect l="l" t="t" r="r" b="b"/>
            <a:pathLst>
              <a:path w="1733322" h="2325757">
                <a:moveTo>
                  <a:pt x="255111" y="1243743"/>
                </a:moveTo>
                <a:lnTo>
                  <a:pt x="212195" y="1169319"/>
                </a:lnTo>
                <a:lnTo>
                  <a:pt x="168087" y="1129244"/>
                </a:lnTo>
                <a:lnTo>
                  <a:pt x="165703" y="1087738"/>
                </a:lnTo>
                <a:lnTo>
                  <a:pt x="143053" y="1050526"/>
                </a:lnTo>
                <a:lnTo>
                  <a:pt x="147821" y="1020470"/>
                </a:lnTo>
                <a:lnTo>
                  <a:pt x="113250" y="1010452"/>
                </a:lnTo>
                <a:lnTo>
                  <a:pt x="150205" y="940321"/>
                </a:lnTo>
                <a:lnTo>
                  <a:pt x="152590" y="900247"/>
                </a:lnTo>
                <a:lnTo>
                  <a:pt x="140668" y="867328"/>
                </a:lnTo>
                <a:lnTo>
                  <a:pt x="97753" y="830116"/>
                </a:lnTo>
                <a:lnTo>
                  <a:pt x="115634" y="788610"/>
                </a:lnTo>
                <a:lnTo>
                  <a:pt x="84640" y="759986"/>
                </a:lnTo>
                <a:lnTo>
                  <a:pt x="98945" y="755692"/>
                </a:lnTo>
                <a:lnTo>
                  <a:pt x="85832" y="641193"/>
                </a:lnTo>
                <a:lnTo>
                  <a:pt x="106097" y="555319"/>
                </a:lnTo>
                <a:lnTo>
                  <a:pt x="72718" y="512382"/>
                </a:lnTo>
                <a:lnTo>
                  <a:pt x="73911" y="465151"/>
                </a:lnTo>
                <a:lnTo>
                  <a:pt x="59605" y="436527"/>
                </a:lnTo>
                <a:lnTo>
                  <a:pt x="0" y="396452"/>
                </a:lnTo>
                <a:lnTo>
                  <a:pt x="39339" y="357809"/>
                </a:lnTo>
                <a:lnTo>
                  <a:pt x="33379" y="314872"/>
                </a:lnTo>
                <a:lnTo>
                  <a:pt x="77487" y="314872"/>
                </a:lnTo>
                <a:lnTo>
                  <a:pt x="115634" y="281953"/>
                </a:lnTo>
                <a:lnTo>
                  <a:pt x="101329" y="218979"/>
                </a:lnTo>
                <a:lnTo>
                  <a:pt x="122787" y="246172"/>
                </a:lnTo>
                <a:lnTo>
                  <a:pt x="135900" y="200373"/>
                </a:lnTo>
                <a:lnTo>
                  <a:pt x="126363" y="183198"/>
                </a:lnTo>
                <a:lnTo>
                  <a:pt x="119211" y="197510"/>
                </a:lnTo>
                <a:lnTo>
                  <a:pt x="115634" y="203235"/>
                </a:lnTo>
                <a:lnTo>
                  <a:pt x="107290" y="210392"/>
                </a:lnTo>
                <a:lnTo>
                  <a:pt x="125171" y="186061"/>
                </a:lnTo>
                <a:lnTo>
                  <a:pt x="101329" y="51524"/>
                </a:lnTo>
                <a:lnTo>
                  <a:pt x="118018" y="7156"/>
                </a:lnTo>
                <a:lnTo>
                  <a:pt x="146629" y="0"/>
                </a:lnTo>
                <a:lnTo>
                  <a:pt x="283721" y="117361"/>
                </a:lnTo>
                <a:lnTo>
                  <a:pt x="367169" y="148848"/>
                </a:lnTo>
                <a:lnTo>
                  <a:pt x="398163" y="177473"/>
                </a:lnTo>
                <a:lnTo>
                  <a:pt x="416045" y="234723"/>
                </a:lnTo>
                <a:lnTo>
                  <a:pt x="467305" y="261916"/>
                </a:lnTo>
                <a:lnTo>
                  <a:pt x="467305" y="307715"/>
                </a:lnTo>
                <a:lnTo>
                  <a:pt x="433927" y="359240"/>
                </a:lnTo>
                <a:lnTo>
                  <a:pt x="402932" y="390727"/>
                </a:lnTo>
                <a:lnTo>
                  <a:pt x="438695" y="334909"/>
                </a:lnTo>
                <a:lnTo>
                  <a:pt x="401740" y="363534"/>
                </a:lnTo>
                <a:lnTo>
                  <a:pt x="373129" y="363534"/>
                </a:lnTo>
                <a:lnTo>
                  <a:pt x="393395" y="383571"/>
                </a:lnTo>
                <a:lnTo>
                  <a:pt x="367169" y="372121"/>
                </a:lnTo>
                <a:lnTo>
                  <a:pt x="377898" y="380708"/>
                </a:lnTo>
                <a:lnTo>
                  <a:pt x="365976" y="387865"/>
                </a:lnTo>
                <a:lnTo>
                  <a:pt x="373129" y="419352"/>
                </a:lnTo>
                <a:lnTo>
                  <a:pt x="330213" y="432233"/>
                </a:lnTo>
                <a:lnTo>
                  <a:pt x="311140" y="476601"/>
                </a:lnTo>
                <a:lnTo>
                  <a:pt x="357632" y="561044"/>
                </a:lnTo>
                <a:lnTo>
                  <a:pt x="377898" y="562475"/>
                </a:lnTo>
                <a:lnTo>
                  <a:pt x="377898" y="582513"/>
                </a:lnTo>
                <a:lnTo>
                  <a:pt x="408892" y="555319"/>
                </a:lnTo>
                <a:lnTo>
                  <a:pt x="418429" y="576788"/>
                </a:lnTo>
                <a:lnTo>
                  <a:pt x="412469" y="566769"/>
                </a:lnTo>
                <a:lnTo>
                  <a:pt x="377898" y="582513"/>
                </a:lnTo>
                <a:lnTo>
                  <a:pt x="389819" y="579650"/>
                </a:lnTo>
                <a:lnTo>
                  <a:pt x="374321" y="632606"/>
                </a:lnTo>
                <a:lnTo>
                  <a:pt x="413661" y="697011"/>
                </a:lnTo>
                <a:lnTo>
                  <a:pt x="398163" y="705599"/>
                </a:lnTo>
                <a:lnTo>
                  <a:pt x="412469" y="732792"/>
                </a:lnTo>
                <a:lnTo>
                  <a:pt x="586516" y="800060"/>
                </a:lnTo>
                <a:lnTo>
                  <a:pt x="766524" y="811510"/>
                </a:lnTo>
                <a:lnTo>
                  <a:pt x="829706" y="778592"/>
                </a:lnTo>
                <a:lnTo>
                  <a:pt x="901232" y="800060"/>
                </a:lnTo>
                <a:lnTo>
                  <a:pt x="921498" y="825822"/>
                </a:lnTo>
                <a:lnTo>
                  <a:pt x="907193" y="863035"/>
                </a:lnTo>
                <a:lnTo>
                  <a:pt x="923882" y="914559"/>
                </a:lnTo>
                <a:lnTo>
                  <a:pt x="904808" y="920284"/>
                </a:lnTo>
                <a:lnTo>
                  <a:pt x="870237" y="1021902"/>
                </a:lnTo>
                <a:lnTo>
                  <a:pt x="840435" y="1019039"/>
                </a:lnTo>
                <a:lnTo>
                  <a:pt x="829706" y="1059114"/>
                </a:lnTo>
                <a:lnTo>
                  <a:pt x="836858" y="1014745"/>
                </a:lnTo>
                <a:lnTo>
                  <a:pt x="813016" y="1004727"/>
                </a:lnTo>
                <a:lnTo>
                  <a:pt x="810632" y="1024764"/>
                </a:lnTo>
                <a:lnTo>
                  <a:pt x="809440" y="1023333"/>
                </a:lnTo>
                <a:lnTo>
                  <a:pt x="776061" y="927440"/>
                </a:lnTo>
                <a:lnTo>
                  <a:pt x="630624" y="967515"/>
                </a:lnTo>
                <a:lnTo>
                  <a:pt x="642545" y="1014745"/>
                </a:lnTo>
                <a:lnTo>
                  <a:pt x="741490" y="1099188"/>
                </a:lnTo>
                <a:lnTo>
                  <a:pt x="747450" y="1054820"/>
                </a:lnTo>
                <a:lnTo>
                  <a:pt x="802287" y="1044801"/>
                </a:lnTo>
                <a:lnTo>
                  <a:pt x="804671" y="1123519"/>
                </a:lnTo>
                <a:lnTo>
                  <a:pt x="879774" y="1205100"/>
                </a:lnTo>
                <a:lnTo>
                  <a:pt x="1020443" y="1240881"/>
                </a:lnTo>
                <a:lnTo>
                  <a:pt x="1041901" y="1236587"/>
                </a:lnTo>
                <a:lnTo>
                  <a:pt x="1058590" y="1206531"/>
                </a:lnTo>
                <a:lnTo>
                  <a:pt x="1130116" y="1250899"/>
                </a:lnTo>
                <a:lnTo>
                  <a:pt x="1214756" y="1226568"/>
                </a:lnTo>
                <a:lnTo>
                  <a:pt x="1298203" y="1182200"/>
                </a:lnTo>
                <a:lnTo>
                  <a:pt x="1347080" y="1132107"/>
                </a:lnTo>
                <a:lnTo>
                  <a:pt x="1360193" y="1139263"/>
                </a:lnTo>
                <a:lnTo>
                  <a:pt x="1347080" y="1069132"/>
                </a:lnTo>
                <a:lnTo>
                  <a:pt x="1354232" y="1103482"/>
                </a:lnTo>
                <a:lnTo>
                  <a:pt x="1382843" y="1064839"/>
                </a:lnTo>
                <a:lnTo>
                  <a:pt x="1366153" y="1041939"/>
                </a:lnTo>
                <a:lnTo>
                  <a:pt x="1350656" y="1054820"/>
                </a:lnTo>
                <a:lnTo>
                  <a:pt x="1341119" y="1030489"/>
                </a:lnTo>
                <a:lnTo>
                  <a:pt x="1375690" y="994708"/>
                </a:lnTo>
                <a:lnTo>
                  <a:pt x="1515167" y="986121"/>
                </a:lnTo>
                <a:lnTo>
                  <a:pt x="1513974" y="999002"/>
                </a:lnTo>
                <a:lnTo>
                  <a:pt x="1497285" y="987552"/>
                </a:lnTo>
                <a:lnTo>
                  <a:pt x="1500861" y="1056251"/>
                </a:lnTo>
                <a:lnTo>
                  <a:pt x="1511590" y="1040508"/>
                </a:lnTo>
                <a:lnTo>
                  <a:pt x="1523511" y="1057683"/>
                </a:lnTo>
                <a:lnTo>
                  <a:pt x="1531856" y="1026195"/>
                </a:lnTo>
                <a:lnTo>
                  <a:pt x="1525895" y="1050526"/>
                </a:lnTo>
                <a:lnTo>
                  <a:pt x="1543777" y="1056251"/>
                </a:lnTo>
                <a:lnTo>
                  <a:pt x="1539009" y="1036214"/>
                </a:lnTo>
                <a:lnTo>
                  <a:pt x="1553314" y="1019039"/>
                </a:lnTo>
                <a:lnTo>
                  <a:pt x="1534240" y="1019039"/>
                </a:lnTo>
                <a:lnTo>
                  <a:pt x="1546161" y="990414"/>
                </a:lnTo>
                <a:lnTo>
                  <a:pt x="1524703" y="984690"/>
                </a:lnTo>
                <a:lnTo>
                  <a:pt x="1565235" y="994708"/>
                </a:lnTo>
                <a:lnTo>
                  <a:pt x="1578348" y="974671"/>
                </a:lnTo>
                <a:lnTo>
                  <a:pt x="1596230" y="978965"/>
                </a:lnTo>
                <a:lnTo>
                  <a:pt x="1572388" y="986121"/>
                </a:lnTo>
                <a:lnTo>
                  <a:pt x="1600998" y="1001864"/>
                </a:lnTo>
                <a:lnTo>
                  <a:pt x="1701135" y="1019039"/>
                </a:lnTo>
                <a:lnTo>
                  <a:pt x="1683253" y="1001864"/>
                </a:lnTo>
                <a:lnTo>
                  <a:pt x="1733322" y="1027627"/>
                </a:lnTo>
                <a:lnTo>
                  <a:pt x="1730938" y="1157869"/>
                </a:lnTo>
                <a:lnTo>
                  <a:pt x="1677293" y="1235156"/>
                </a:lnTo>
                <a:lnTo>
                  <a:pt x="1560467" y="1299561"/>
                </a:lnTo>
                <a:lnTo>
                  <a:pt x="1541393" y="1345361"/>
                </a:lnTo>
                <a:lnTo>
                  <a:pt x="1498477" y="1708894"/>
                </a:lnTo>
                <a:lnTo>
                  <a:pt x="1505630" y="1827687"/>
                </a:lnTo>
                <a:lnTo>
                  <a:pt x="1481788" y="1889230"/>
                </a:lnTo>
                <a:lnTo>
                  <a:pt x="1480595" y="2058116"/>
                </a:lnTo>
                <a:lnTo>
                  <a:pt x="1492517" y="2096759"/>
                </a:lnTo>
                <a:lnTo>
                  <a:pt x="1477019" y="2112503"/>
                </a:lnTo>
                <a:lnTo>
                  <a:pt x="1492517" y="2132540"/>
                </a:lnTo>
                <a:lnTo>
                  <a:pt x="1435295" y="2179771"/>
                </a:lnTo>
                <a:lnTo>
                  <a:pt x="1399532" y="2176908"/>
                </a:lnTo>
                <a:lnTo>
                  <a:pt x="1370922" y="2231295"/>
                </a:lnTo>
                <a:lnTo>
                  <a:pt x="1378074" y="2295701"/>
                </a:lnTo>
                <a:lnTo>
                  <a:pt x="1314893" y="2318600"/>
                </a:lnTo>
                <a:lnTo>
                  <a:pt x="1209987" y="2325757"/>
                </a:lnTo>
                <a:lnTo>
                  <a:pt x="1143230" y="2279957"/>
                </a:lnTo>
                <a:lnTo>
                  <a:pt x="1114619" y="2175477"/>
                </a:lnTo>
                <a:lnTo>
                  <a:pt x="1126540" y="2125384"/>
                </a:lnTo>
                <a:lnTo>
                  <a:pt x="1078856" y="2073859"/>
                </a:lnTo>
                <a:lnTo>
                  <a:pt x="1058590" y="2072428"/>
                </a:lnTo>
                <a:lnTo>
                  <a:pt x="1090777" y="1943617"/>
                </a:lnTo>
                <a:lnTo>
                  <a:pt x="1082432" y="1844862"/>
                </a:lnTo>
                <a:lnTo>
                  <a:pt x="1062166" y="1823393"/>
                </a:lnTo>
                <a:lnTo>
                  <a:pt x="1025211" y="1831981"/>
                </a:lnTo>
                <a:lnTo>
                  <a:pt x="951300" y="1767575"/>
                </a:lnTo>
                <a:lnTo>
                  <a:pt x="848779" y="1713188"/>
                </a:lnTo>
                <a:lnTo>
                  <a:pt x="817785" y="1681701"/>
                </a:lnTo>
                <a:lnTo>
                  <a:pt x="824937" y="1645920"/>
                </a:lnTo>
                <a:lnTo>
                  <a:pt x="799903" y="1582946"/>
                </a:lnTo>
                <a:lnTo>
                  <a:pt x="714071" y="1607277"/>
                </a:lnTo>
                <a:lnTo>
                  <a:pt x="679500" y="1570065"/>
                </a:lnTo>
                <a:lnTo>
                  <a:pt x="619895" y="1595827"/>
                </a:lnTo>
                <a:lnTo>
                  <a:pt x="606782" y="1572927"/>
                </a:lnTo>
                <a:lnTo>
                  <a:pt x="565058" y="1571496"/>
                </a:lnTo>
                <a:lnTo>
                  <a:pt x="531679" y="1594396"/>
                </a:lnTo>
                <a:lnTo>
                  <a:pt x="537640" y="1631608"/>
                </a:lnTo>
                <a:lnTo>
                  <a:pt x="516182" y="1655939"/>
                </a:lnTo>
                <a:lnTo>
                  <a:pt x="487571" y="1645920"/>
                </a:lnTo>
                <a:lnTo>
                  <a:pt x="458961" y="1604414"/>
                </a:lnTo>
                <a:lnTo>
                  <a:pt x="454192" y="1570065"/>
                </a:lnTo>
                <a:lnTo>
                  <a:pt x="495916" y="1554321"/>
                </a:lnTo>
                <a:lnTo>
                  <a:pt x="463729" y="1446978"/>
                </a:lnTo>
                <a:lnTo>
                  <a:pt x="494724" y="1432666"/>
                </a:lnTo>
                <a:lnTo>
                  <a:pt x="493532" y="1388298"/>
                </a:lnTo>
                <a:lnTo>
                  <a:pt x="516182" y="1379710"/>
                </a:lnTo>
                <a:lnTo>
                  <a:pt x="506645" y="1353948"/>
                </a:lnTo>
                <a:lnTo>
                  <a:pt x="516182" y="1351086"/>
                </a:lnTo>
                <a:lnTo>
                  <a:pt x="475650" y="1246605"/>
                </a:lnTo>
                <a:lnTo>
                  <a:pt x="437503" y="1230862"/>
                </a:lnTo>
                <a:lnTo>
                  <a:pt x="382666" y="1248037"/>
                </a:lnTo>
                <a:lnTo>
                  <a:pt x="344519" y="1232293"/>
                </a:lnTo>
                <a:lnTo>
                  <a:pt x="295642" y="1260918"/>
                </a:lnTo>
                <a:lnTo>
                  <a:pt x="255111" y="1243743"/>
                </a:lnTo>
                <a:close/>
              </a:path>
            </a:pathLst>
          </a:custGeom>
          <a:solidFill>
            <a:srgbClr val="F4AE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94604" y="2387856"/>
            <a:ext cx="239613" cy="456564"/>
          </a:xfrm>
          <a:custGeom>
            <a:avLst/>
            <a:gdLst/>
            <a:ahLst/>
            <a:cxnLst/>
            <a:rect l="l" t="t" r="r" b="b"/>
            <a:pathLst>
              <a:path w="239613" h="456564">
                <a:moveTo>
                  <a:pt x="69142" y="443683"/>
                </a:moveTo>
                <a:lnTo>
                  <a:pt x="8345" y="363534"/>
                </a:lnTo>
                <a:lnTo>
                  <a:pt x="0" y="304853"/>
                </a:lnTo>
                <a:lnTo>
                  <a:pt x="40532" y="260485"/>
                </a:lnTo>
                <a:lnTo>
                  <a:pt x="60797" y="200373"/>
                </a:lnTo>
                <a:lnTo>
                  <a:pt x="48876" y="38643"/>
                </a:lnTo>
                <a:lnTo>
                  <a:pt x="90600" y="0"/>
                </a:lnTo>
                <a:lnTo>
                  <a:pt x="125171" y="4294"/>
                </a:lnTo>
                <a:lnTo>
                  <a:pt x="162126" y="47231"/>
                </a:lnTo>
                <a:lnTo>
                  <a:pt x="159742" y="120224"/>
                </a:lnTo>
                <a:lnTo>
                  <a:pt x="231269" y="218979"/>
                </a:lnTo>
                <a:lnTo>
                  <a:pt x="239613" y="324890"/>
                </a:lnTo>
                <a:lnTo>
                  <a:pt x="214579" y="336340"/>
                </a:lnTo>
                <a:lnTo>
                  <a:pt x="201466" y="389296"/>
                </a:lnTo>
                <a:lnTo>
                  <a:pt x="200274" y="372121"/>
                </a:lnTo>
                <a:lnTo>
                  <a:pt x="175240" y="380708"/>
                </a:lnTo>
                <a:lnTo>
                  <a:pt x="180008" y="396452"/>
                </a:lnTo>
                <a:lnTo>
                  <a:pt x="194313" y="390727"/>
                </a:lnTo>
                <a:lnTo>
                  <a:pt x="177624" y="397883"/>
                </a:lnTo>
                <a:lnTo>
                  <a:pt x="174047" y="427939"/>
                </a:lnTo>
                <a:lnTo>
                  <a:pt x="121595" y="427939"/>
                </a:lnTo>
                <a:lnTo>
                  <a:pt x="98945" y="443683"/>
                </a:lnTo>
                <a:lnTo>
                  <a:pt x="115634" y="453701"/>
                </a:lnTo>
                <a:lnTo>
                  <a:pt x="109674" y="456564"/>
                </a:lnTo>
                <a:lnTo>
                  <a:pt x="69142" y="443683"/>
                </a:lnTo>
                <a:close/>
              </a:path>
            </a:pathLst>
          </a:custGeom>
          <a:solidFill>
            <a:srgbClr val="F4AE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109372" y="20188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 +12.6%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633682" y="285507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博多 +9.8%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223854" y="3166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中央 +14.7%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145271" y="374585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南 +12.0%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987397" y="3421923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城南 +13.5%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049590" y="428448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早良 +11.6%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198426" y="308367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西 +10.7%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498080" y="553212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どの区も増える。差は小さい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結果③ 都心は“住んでいない人”が運ばれる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出典：令和2年国勢調査、本資料の推計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680960" y="132588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昼夜間人口比（昼÷夜）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680960" y="1783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博多区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961120" y="1783080"/>
            <a:ext cx="2773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1.59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7680960" y="3246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中央区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961120" y="3246120"/>
            <a:ext cx="2773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1.49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7680960" y="4800600"/>
            <a:ext cx="4053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昼に来る人のぶん（昼間補正）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博多 +2,376件／中央 +1,461件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結果④ 1隊あたりの負担と、基準の隊数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出典：福岡市消防年報 R6、消防力の整備指針 第13条（横浜市の算定例）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区別 1隊あたり出場（2024年実績、市平均 2,968件）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132588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整備指針の基準隊数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766560" y="1737360"/>
          <a:ext cx="496793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6766560" y="466344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基準では今すでに1隊足りない計算。2035年には5隊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結果⑤ 署所：先に詰まるのはここ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出典：令和2年国勢調査・経済センサス（メッシュ）、本資料の推定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1002975" y="566928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02975" y="566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1隊あたり出場件数（2035年）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132588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3,000件/隊を超える署所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772400" y="173736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→ 15</a:t>
            </a:r>
            <a:endParaRPr lang="en-US" sz="6400" dirty="0"/>
          </a:p>
        </p:txBody>
      </p:sp>
      <p:sp>
        <p:nvSpPr>
          <p:cNvPr id="11" name="Text 7"/>
          <p:cNvSpPr/>
          <p:nvPr/>
        </p:nvSpPr>
        <p:spPr>
          <a:xfrm>
            <a:off x="7772400" y="278892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（26署所中、2025→2035年）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0" y="3520440"/>
            <a:ext cx="3962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推定：1kmメッシュの人口を最寄りの署所に按分。公式の統計ではない。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出張所1隊の署所に負担が集中する傾向。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長期 2050：人口が減っても出場は減らない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出典：福岡市の将来人口推計、社人研、本資料の推計（下限シナリオ）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13258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人口（2040年ピーク）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0" y="17373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165.2→163.7万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8229600" y="28803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出場（下限、2050年）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0" y="329184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121,804件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229600" y="452628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2040年以降に増えるのは 75〜84歳と85歳以上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使うときの注意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801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1280160"/>
            <a:ext cx="10088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全体は公表資料の再計算で、市の公式見解ではない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212848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21284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71600" y="2212848"/>
            <a:ext cx="90827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署所別は推定（目安）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728655" y="2459736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28655" y="2459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推定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145536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14553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371600" y="3145536"/>
            <a:ext cx="10088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上限シナリオは年1.9%の複利で2050年に約2倍になる強い前提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4078224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07822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71600" y="4078224"/>
            <a:ext cx="10088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人口は登録人口ベース（推計人口より約5万人少ない）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5010912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01091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371600" y="5010912"/>
            <a:ext cx="10088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区別の不搬送率・時間帯別は公表データが無く載せていない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まとめ：3行と、次の一歩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1325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10年で +12%は確実、+25〜38%もあり得る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71600" y="22860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増えるのは85歳以上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371600" y="32461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基準隊数は今すでに不足、先に詰まるのは1隊の出張所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D0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次の一歩：増隊の目安づくり　／　昼間人口を考慮した配置　／　適正利用の啓発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7200" y="51663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https://ajp-4dev.github.io/fukuoka-ems-2035/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福岡市 救急需要の未来地図 2025→2035（職員向け）</dc:title>
  <dc:subject>PptxGenJS Presentation</dc:subject>
  <dc:creator>本資料の再計算（市の公式見解ではない）</dc:creator>
  <cp:lastModifiedBy>本資料の再計算（市の公式見解ではない）</cp:lastModifiedBy>
  <cp:revision>1</cp:revision>
  <dcterms:created xsi:type="dcterms:W3CDTF">2026-10-25T15:44:28Z</dcterms:created>
  <dcterms:modified xsi:type="dcterms:W3CDTF">2026-10-25T15:44:28Z</dcterms:modified>
</cp:coreProperties>
</file>